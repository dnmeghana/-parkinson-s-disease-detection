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g29e00197886_1_65:notes"/>
          <p:cNvSpPr txBox="1"/>
          <p:nvPr>
            <p:ph type="body" idx="1"/>
          </p:nvPr>
        </p:nvSpPr>
        <p:spPr>
          <a:xfrm>
            <a:off x="686590" y="4344026"/>
            <a:ext cx="5486400" cy="4114488"/>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117" name="Google Shape;117;g29e00197886_1_65: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g29e00197886_1_71: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g29e00197886_1_71:notes"/>
          <p:cNvSpPr txBox="1"/>
          <p:nvPr>
            <p:ph type="body" idx="1"/>
          </p:nvPr>
        </p:nvSpPr>
        <p:spPr>
          <a:xfrm>
            <a:off x="686590" y="4344026"/>
            <a:ext cx="5486400" cy="4114488"/>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24" name="Google Shape;124;g29e00197886_1_71:notes"/>
          <p:cNvSpPr txBox="1"/>
          <p:nvPr>
            <p:ph type="sldNum" idx="12"/>
          </p:nvPr>
        </p:nvSpPr>
        <p:spPr>
          <a:xfrm>
            <a:off x="3883828" y="8684926"/>
            <a:ext cx="2972590" cy="457513"/>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g29dfea8447c_0_1: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g29dfea8447c_0_1: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32" name="Google Shape;132;g29dfea8447c_0_1: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29dff0f45ad_0_0: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29dff0f45ad_0_0: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39" name="Google Shape;139;g29dff0f45ad_0_0: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g26265429c68_3_0: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g26265429c68_3_0: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47" name="Google Shape;147;g26265429c68_3_0: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g26221e85929_1_1: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26221e85929_1_1: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55" name="Google Shape;155;g26221e85929_1_1: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26265429c68_3_7: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26265429c68_3_7: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63" name="Google Shape;163;g26265429c68_3_7: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g26265429c68_0_62: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26265429c68_0_62: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71" name="Google Shape;171;g26265429c68_0_62: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g26265429c68_0_70: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26265429c68_0_70: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81" name="Google Shape;181;g26265429c68_0_70: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g2a02b0504ef_1_3: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2a02b0504ef_1_3: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191" name="Google Shape;191;g2a02b0504ef_1_3: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g2a02b0504ef_1_13: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2a02b0504ef_1_13: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01" name="Google Shape;201;g2a02b0504ef_1_13: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g2a02b0504ef_0_5: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2a02b0504ef_0_5: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12" name="Google Shape;212;g2a02b0504ef_0_5: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g2a02b0504ef_0_38: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g2a02b0504ef_0_38: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28" name="Google Shape;228;g2a02b0504ef_0_38: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g2a02b0504ef_1_23: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2a02b0504ef_1_23: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43" name="Google Shape;243;g2a02b0504ef_1_23: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g26221e85929_1_12: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26221e85929_1_12: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53" name="Google Shape;253;g26221e85929_1_12: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g2a02b0504ef_1_45: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a02b0504ef_1_45: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61" name="Google Shape;261;g2a02b0504ef_1_45: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g2a02b0504ef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a02b0504e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 name="Shape 272"/>
        <p:cNvGrpSpPr/>
        <p:nvPr/>
      </p:nvGrpSpPr>
      <p:grpSpPr>
        <a:xfrm>
          <a:off x="0" y="0"/>
          <a:ext cx="0" cy="0"/>
          <a:chOff x="0" y="0"/>
          <a:chExt cx="0" cy="0"/>
        </a:xfrm>
      </p:grpSpPr>
      <p:sp>
        <p:nvSpPr>
          <p:cNvPr id="273" name="Google Shape;273;g2a02b0504ef_1_35: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2a02b0504ef_1_35: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75" name="Google Shape;275;g2a02b0504ef_1_35: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280"/>
        <p:cNvGrpSpPr/>
        <p:nvPr/>
      </p:nvGrpSpPr>
      <p:grpSpPr>
        <a:xfrm>
          <a:off x="0" y="0"/>
          <a:ext cx="0" cy="0"/>
          <a:chOff x="0" y="0"/>
          <a:chExt cx="0" cy="0"/>
        </a:xfrm>
      </p:grpSpPr>
      <p:sp>
        <p:nvSpPr>
          <p:cNvPr id="281" name="Google Shape;281;g26265429c68_3_14: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26265429c68_3_14: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83" name="Google Shape;283;g26265429c68_3_14: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g29dff0f45ad_0_52: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g29dff0f45ad_0_52: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291" name="Google Shape;291;g29dff0f45ad_0_52: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297"/>
        <p:cNvGrpSpPr/>
        <p:nvPr/>
      </p:nvGrpSpPr>
      <p:grpSpPr>
        <a:xfrm>
          <a:off x="0" y="0"/>
          <a:ext cx="0" cy="0"/>
          <a:chOff x="0" y="0"/>
          <a:chExt cx="0" cy="0"/>
        </a:xfrm>
      </p:grpSpPr>
      <p:sp>
        <p:nvSpPr>
          <p:cNvPr id="298" name="Google Shape;298;g29e00197886_1_103: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29e00197886_1_103:notes"/>
          <p:cNvSpPr txBox="1"/>
          <p:nvPr>
            <p:ph type="body" idx="1"/>
          </p:nvPr>
        </p:nvSpPr>
        <p:spPr>
          <a:xfrm>
            <a:off x="686590" y="4344026"/>
            <a:ext cx="5486400" cy="4114488"/>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00" name="Google Shape;300;g29e00197886_1_103:notes"/>
          <p:cNvSpPr txBox="1"/>
          <p:nvPr>
            <p:ph type="sldNum" idx="12"/>
          </p:nvPr>
        </p:nvSpPr>
        <p:spPr>
          <a:xfrm>
            <a:off x="3883828" y="8684926"/>
            <a:ext cx="2972590" cy="457513"/>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g29dff0f45ad_0_64: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29dff0f45ad_0_64: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10" name="Google Shape;310;g29dff0f45ad_0_64: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5" name="Shape 315"/>
        <p:cNvGrpSpPr/>
        <p:nvPr/>
      </p:nvGrpSpPr>
      <p:grpSpPr>
        <a:xfrm>
          <a:off x="0" y="0"/>
          <a:ext cx="0" cy="0"/>
          <a:chOff x="0" y="0"/>
          <a:chExt cx="0" cy="0"/>
        </a:xfrm>
      </p:grpSpPr>
      <p:sp>
        <p:nvSpPr>
          <p:cNvPr id="316" name="Google Shape;316;g29dff0f45ad_0_25: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g29dff0f45ad_0_25: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18" name="Google Shape;318;g29dff0f45ad_0_25: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323"/>
        <p:cNvGrpSpPr/>
        <p:nvPr/>
      </p:nvGrpSpPr>
      <p:grpSpPr>
        <a:xfrm>
          <a:off x="0" y="0"/>
          <a:ext cx="0" cy="0"/>
          <a:chOff x="0" y="0"/>
          <a:chExt cx="0" cy="0"/>
        </a:xfrm>
      </p:grpSpPr>
      <p:sp>
        <p:nvSpPr>
          <p:cNvPr id="324" name="Google Shape;324;g26221e85929_1_20: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g26221e85929_1_20: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26" name="Google Shape;326;g26221e85929_1_20: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g26221e85929_1_28: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g26221e85929_1_28: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34" name="Google Shape;334;g26221e85929_1_28: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g29ea731d01f_0_8: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29ea731d01f_0_8: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42" name="Google Shape;342;g29ea731d01f_0_8: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6" name="Shape 346"/>
        <p:cNvGrpSpPr/>
        <p:nvPr/>
      </p:nvGrpSpPr>
      <p:grpSpPr>
        <a:xfrm>
          <a:off x="0" y="0"/>
          <a:ext cx="0" cy="0"/>
          <a:chOff x="0" y="0"/>
          <a:chExt cx="0" cy="0"/>
        </a:xfrm>
      </p:grpSpPr>
      <p:sp>
        <p:nvSpPr>
          <p:cNvPr id="347" name="Google Shape;347;g26265429c68_3_21: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g26265429c68_3_21: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49" name="Google Shape;349;g26265429c68_3_21: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g29ea731d01f_0_35: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g29ea731d01f_0_35: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56" name="Google Shape;356;g29ea731d01f_0_35: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0" name="Shape 360"/>
        <p:cNvGrpSpPr/>
        <p:nvPr/>
      </p:nvGrpSpPr>
      <p:grpSpPr>
        <a:xfrm>
          <a:off x="0" y="0"/>
          <a:ext cx="0" cy="0"/>
          <a:chOff x="0" y="0"/>
          <a:chExt cx="0" cy="0"/>
        </a:xfrm>
      </p:grpSpPr>
      <p:sp>
        <p:nvSpPr>
          <p:cNvPr id="361" name="Google Shape;361;g29ea731d01f_0_43: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g29ea731d01f_0_43: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63" name="Google Shape;363;g29ea731d01f_0_43: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g29ea731d01f_0_0: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g29ea731d01f_0_0: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70" name="Google Shape;370;g29ea731d01f_0_0: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4" name="Shape 374"/>
        <p:cNvGrpSpPr/>
        <p:nvPr/>
      </p:nvGrpSpPr>
      <p:grpSpPr>
        <a:xfrm>
          <a:off x="0" y="0"/>
          <a:ext cx="0" cy="0"/>
          <a:chOff x="0" y="0"/>
          <a:chExt cx="0" cy="0"/>
        </a:xfrm>
      </p:grpSpPr>
      <p:sp>
        <p:nvSpPr>
          <p:cNvPr id="375" name="Google Shape;375;g29ea731d01f_0_18: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g29ea731d01f_0_18: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77" name="Google Shape;377;g29ea731d01f_0_18: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g29ea731d01f_0_28: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g29ea731d01f_0_28: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84" name="Google Shape;384;g29ea731d01f_0_28: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8" name="Shape 388"/>
        <p:cNvGrpSpPr/>
        <p:nvPr/>
      </p:nvGrpSpPr>
      <p:grpSpPr>
        <a:xfrm>
          <a:off x="0" y="0"/>
          <a:ext cx="0" cy="0"/>
          <a:chOff x="0" y="0"/>
          <a:chExt cx="0" cy="0"/>
        </a:xfrm>
      </p:grpSpPr>
      <p:sp>
        <p:nvSpPr>
          <p:cNvPr id="389" name="Google Shape;389;g26221e85929_1_36: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g26221e85929_1_36:notes"/>
          <p:cNvSpPr txBox="1"/>
          <p:nvPr>
            <p:ph type="body" idx="1"/>
          </p:nvPr>
        </p:nvSpPr>
        <p:spPr>
          <a:xfrm>
            <a:off x="686590" y="4344026"/>
            <a:ext cx="5486400" cy="4114500"/>
          </a:xfrm>
          <a:prstGeom prst="rect">
            <a:avLst/>
          </a:prstGeom>
          <a:noFill/>
          <a:ln>
            <a:noFill/>
          </a:ln>
        </p:spPr>
        <p:txBody>
          <a:bodyPr spcFirstLastPara="1" wrap="square" lIns="89600" tIns="44800" rIns="89600" bIns="44800" anchor="t" anchorCtr="0">
            <a:noAutofit/>
          </a:bodyPr>
          <a:lstStyle/>
          <a:p>
            <a:pPr marL="0" lvl="0" indent="0" algn="l" rtl="0">
              <a:spcBef>
                <a:spcPts val="0"/>
              </a:spcBef>
              <a:spcAft>
                <a:spcPts val="0"/>
              </a:spcAft>
              <a:buNone/>
            </a:pPr>
            <a:endParaRPr sz="1400"/>
          </a:p>
        </p:txBody>
      </p:sp>
      <p:sp>
        <p:nvSpPr>
          <p:cNvPr id="391" name="Google Shape;391;g26221e85929_1_36:notes"/>
          <p:cNvSpPr txBox="1"/>
          <p:nvPr>
            <p:ph type="sldNum" idx="12"/>
          </p:nvPr>
        </p:nvSpPr>
        <p:spPr>
          <a:xfrm>
            <a:off x="3883828" y="8684926"/>
            <a:ext cx="2972700" cy="457500"/>
          </a:xfrm>
          <a:prstGeom prst="rect">
            <a:avLst/>
          </a:prstGeom>
          <a:noFill/>
          <a:ln>
            <a:noFill/>
          </a:ln>
        </p:spPr>
        <p:txBody>
          <a:bodyPr spcFirstLastPara="1" wrap="square" lIns="89600" tIns="44800" rIns="89600" bIns="44800" anchor="b" anchorCtr="0">
            <a:noAutofit/>
          </a:bodyPr>
          <a:lstStyle/>
          <a:p>
            <a:pPr marL="0" lvl="0" indent="0" algn="r" rtl="0">
              <a:spcBef>
                <a:spcPts val="0"/>
              </a:spcBef>
              <a:spcAft>
                <a:spcPts val="0"/>
              </a:spcAft>
              <a:buNone/>
            </a:pPr>
            <a:fld id="{00000000-1234-1234-1234-123412341234}" type="slidenum">
              <a:rPr lang="en-GB" sz="1400"/>
            </a:fld>
            <a:endParaRPr sz="14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5" name="Shape 395"/>
        <p:cNvGrpSpPr/>
        <p:nvPr/>
      </p:nvGrpSpPr>
      <p:grpSpPr>
        <a:xfrm>
          <a:off x="0" y="0"/>
          <a:ext cx="0" cy="0"/>
          <a:chOff x="0" y="0"/>
          <a:chExt cx="0" cy="0"/>
        </a:xfrm>
      </p:grpSpPr>
      <p:sp>
        <p:nvSpPr>
          <p:cNvPr id="396" name="Google Shape;396;g29e00197886_1_121:notes"/>
          <p:cNvSpPr txBox="1"/>
          <p:nvPr>
            <p:ph type="body" idx="1"/>
          </p:nvPr>
        </p:nvSpPr>
        <p:spPr>
          <a:xfrm>
            <a:off x="686590" y="4344026"/>
            <a:ext cx="5486400" cy="4114488"/>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397" name="Google Shape;397;g29e00197886_1_121: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2" name="Shape 402"/>
        <p:cNvGrpSpPr/>
        <p:nvPr/>
      </p:nvGrpSpPr>
      <p:grpSpPr>
        <a:xfrm>
          <a:off x="0" y="0"/>
          <a:ext cx="0" cy="0"/>
          <a:chOff x="0" y="0"/>
          <a:chExt cx="0" cy="0"/>
        </a:xfrm>
      </p:grpSpPr>
      <p:sp>
        <p:nvSpPr>
          <p:cNvPr id="403" name="Google Shape;403;g29dff0f45ad_1_1: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04" name="Google Shape;404;g29dff0f45ad_1_1: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9" name="Shape 409"/>
        <p:cNvGrpSpPr/>
        <p:nvPr/>
      </p:nvGrpSpPr>
      <p:grpSpPr>
        <a:xfrm>
          <a:off x="0" y="0"/>
          <a:ext cx="0" cy="0"/>
          <a:chOff x="0" y="0"/>
          <a:chExt cx="0" cy="0"/>
        </a:xfrm>
      </p:grpSpPr>
      <p:sp>
        <p:nvSpPr>
          <p:cNvPr id="410" name="Google Shape;410;g26265429c68_0_56: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11" name="Google Shape;411;g26265429c68_0_56: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g29dff0f45ad_0_7: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18" name="Google Shape;418;g29dff0f45ad_0_7: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3" name="Shape 423"/>
        <p:cNvGrpSpPr/>
        <p:nvPr/>
      </p:nvGrpSpPr>
      <p:grpSpPr>
        <a:xfrm>
          <a:off x="0" y="0"/>
          <a:ext cx="0" cy="0"/>
          <a:chOff x="0" y="0"/>
          <a:chExt cx="0" cy="0"/>
        </a:xfrm>
      </p:grpSpPr>
      <p:sp>
        <p:nvSpPr>
          <p:cNvPr id="424" name="Google Shape;424;g29dff0f45ad_1_7: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25" name="Google Shape;425;g29dff0f45ad_1_7: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0" name="Shape 430"/>
        <p:cNvGrpSpPr/>
        <p:nvPr/>
      </p:nvGrpSpPr>
      <p:grpSpPr>
        <a:xfrm>
          <a:off x="0" y="0"/>
          <a:ext cx="0" cy="0"/>
          <a:chOff x="0" y="0"/>
          <a:chExt cx="0" cy="0"/>
        </a:xfrm>
      </p:grpSpPr>
      <p:sp>
        <p:nvSpPr>
          <p:cNvPr id="431" name="Google Shape;431;g29dff0f45ad_1_12: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32" name="Google Shape;432;g29dff0f45ad_1_12: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7" name="Shape 437"/>
        <p:cNvGrpSpPr/>
        <p:nvPr/>
      </p:nvGrpSpPr>
      <p:grpSpPr>
        <a:xfrm>
          <a:off x="0" y="0"/>
          <a:ext cx="0" cy="0"/>
          <a:chOff x="0" y="0"/>
          <a:chExt cx="0" cy="0"/>
        </a:xfrm>
      </p:grpSpPr>
      <p:sp>
        <p:nvSpPr>
          <p:cNvPr id="438" name="Google Shape;438;g26265429c68_0_0: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39" name="Google Shape;439;g26265429c68_0_0: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3" name="Shape 443"/>
        <p:cNvGrpSpPr/>
        <p:nvPr/>
      </p:nvGrpSpPr>
      <p:grpSpPr>
        <a:xfrm>
          <a:off x="0" y="0"/>
          <a:ext cx="0" cy="0"/>
          <a:chOff x="0" y="0"/>
          <a:chExt cx="0" cy="0"/>
        </a:xfrm>
      </p:grpSpPr>
      <p:sp>
        <p:nvSpPr>
          <p:cNvPr id="444" name="Google Shape;444;g26265429c68_0_22: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45" name="Google Shape;445;g26265429c68_0_22: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9" name="Shape 449"/>
        <p:cNvGrpSpPr/>
        <p:nvPr/>
      </p:nvGrpSpPr>
      <p:grpSpPr>
        <a:xfrm>
          <a:off x="0" y="0"/>
          <a:ext cx="0" cy="0"/>
          <a:chOff x="0" y="0"/>
          <a:chExt cx="0" cy="0"/>
        </a:xfrm>
      </p:grpSpPr>
      <p:sp>
        <p:nvSpPr>
          <p:cNvPr id="450" name="Google Shape;450;g29e00197886_1_181:notes"/>
          <p:cNvSpPr txBox="1"/>
          <p:nvPr>
            <p:ph type="body" idx="1"/>
          </p:nvPr>
        </p:nvSpPr>
        <p:spPr>
          <a:xfrm>
            <a:off x="686590" y="4344026"/>
            <a:ext cx="5486400" cy="4114488"/>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51" name="Google Shape;451;g29e00197886_1_181: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5" name="Shape 455"/>
        <p:cNvGrpSpPr/>
        <p:nvPr/>
      </p:nvGrpSpPr>
      <p:grpSpPr>
        <a:xfrm>
          <a:off x="0" y="0"/>
          <a:ext cx="0" cy="0"/>
          <a:chOff x="0" y="0"/>
          <a:chExt cx="0" cy="0"/>
        </a:xfrm>
      </p:grpSpPr>
      <p:sp>
        <p:nvSpPr>
          <p:cNvPr id="456" name="Google Shape;456;g26265429c68_0_46: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57" name="Google Shape;457;g26265429c68_0_46: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2" name="Shape 462"/>
        <p:cNvGrpSpPr/>
        <p:nvPr/>
      </p:nvGrpSpPr>
      <p:grpSpPr>
        <a:xfrm>
          <a:off x="0" y="0"/>
          <a:ext cx="0" cy="0"/>
          <a:chOff x="0" y="0"/>
          <a:chExt cx="0" cy="0"/>
        </a:xfrm>
      </p:grpSpPr>
      <p:sp>
        <p:nvSpPr>
          <p:cNvPr id="463" name="Google Shape;463;g29e00197886_1_192:notes"/>
          <p:cNvSpPr txBox="1"/>
          <p:nvPr>
            <p:ph type="body" idx="1"/>
          </p:nvPr>
        </p:nvSpPr>
        <p:spPr>
          <a:xfrm>
            <a:off x="686590" y="4344026"/>
            <a:ext cx="5486400" cy="4114488"/>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64" name="Google Shape;464;g29e00197886_1_192: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8" name="Shape 468"/>
        <p:cNvGrpSpPr/>
        <p:nvPr/>
      </p:nvGrpSpPr>
      <p:grpSpPr>
        <a:xfrm>
          <a:off x="0" y="0"/>
          <a:ext cx="0" cy="0"/>
          <a:chOff x="0" y="0"/>
          <a:chExt cx="0" cy="0"/>
        </a:xfrm>
      </p:grpSpPr>
      <p:sp>
        <p:nvSpPr>
          <p:cNvPr id="469" name="Google Shape;469;g29dff0f45ad_0_87: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70" name="Google Shape;470;g29dff0f45ad_0_87: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4" name="Shape 474"/>
        <p:cNvGrpSpPr/>
        <p:nvPr/>
      </p:nvGrpSpPr>
      <p:grpSpPr>
        <a:xfrm>
          <a:off x="0" y="0"/>
          <a:ext cx="0" cy="0"/>
          <a:chOff x="0" y="0"/>
          <a:chExt cx="0" cy="0"/>
        </a:xfrm>
      </p:grpSpPr>
      <p:sp>
        <p:nvSpPr>
          <p:cNvPr id="475" name="Google Shape;475;g29e00197886_1_206:notes"/>
          <p:cNvSpPr txBox="1"/>
          <p:nvPr>
            <p:ph type="body" idx="1"/>
          </p:nvPr>
        </p:nvSpPr>
        <p:spPr>
          <a:xfrm>
            <a:off x="686590" y="4344026"/>
            <a:ext cx="5486400" cy="4114488"/>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76" name="Google Shape;476;g29e00197886_1_206: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0" name="Shape 480"/>
        <p:cNvGrpSpPr/>
        <p:nvPr/>
      </p:nvGrpSpPr>
      <p:grpSpPr>
        <a:xfrm>
          <a:off x="0" y="0"/>
          <a:ext cx="0" cy="0"/>
          <a:chOff x="0" y="0"/>
          <a:chExt cx="0" cy="0"/>
        </a:xfrm>
      </p:grpSpPr>
      <p:sp>
        <p:nvSpPr>
          <p:cNvPr id="481" name="Google Shape;481;g29dff0f45ad_0_104:notes"/>
          <p:cNvSpPr txBox="1"/>
          <p:nvPr>
            <p:ph type="body" idx="1"/>
          </p:nvPr>
        </p:nvSpPr>
        <p:spPr>
          <a:xfrm>
            <a:off x="686590" y="4344026"/>
            <a:ext cx="5486400" cy="4114500"/>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82" name="Google Shape;482;g29dff0f45ad_0_104:notes"/>
          <p:cNvSpPr/>
          <p:nvPr>
            <p:ph type="sldImg" idx="2"/>
          </p:nvPr>
        </p:nvSpPr>
        <p:spPr>
          <a:xfrm>
            <a:off x="399119" y="685488"/>
            <a:ext cx="6061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6" name="Shape 486"/>
        <p:cNvGrpSpPr/>
        <p:nvPr/>
      </p:nvGrpSpPr>
      <p:grpSpPr>
        <a:xfrm>
          <a:off x="0" y="0"/>
          <a:ext cx="0" cy="0"/>
          <a:chOff x="0" y="0"/>
          <a:chExt cx="0" cy="0"/>
        </a:xfrm>
      </p:grpSpPr>
      <p:sp>
        <p:nvSpPr>
          <p:cNvPr id="487" name="Google Shape;487;g29e00197886_1_229:notes"/>
          <p:cNvSpPr txBox="1"/>
          <p:nvPr>
            <p:ph type="body" idx="1"/>
          </p:nvPr>
        </p:nvSpPr>
        <p:spPr>
          <a:xfrm>
            <a:off x="686590" y="4344026"/>
            <a:ext cx="5486400" cy="4114488"/>
          </a:xfrm>
          <a:prstGeom prst="rect">
            <a:avLst/>
          </a:prstGeom>
        </p:spPr>
        <p:txBody>
          <a:bodyPr spcFirstLastPara="1" wrap="square" lIns="89600" tIns="89600" rIns="89600" bIns="89600" anchor="t" anchorCtr="0">
            <a:noAutofit/>
          </a:bodyPr>
          <a:lstStyle/>
          <a:p>
            <a:pPr marL="0" lvl="0" indent="0" algn="l" rtl="0">
              <a:spcBef>
                <a:spcPts val="0"/>
              </a:spcBef>
              <a:spcAft>
                <a:spcPts val="0"/>
              </a:spcAft>
              <a:buNone/>
            </a:pPr>
          </a:p>
        </p:txBody>
      </p:sp>
      <p:sp>
        <p:nvSpPr>
          <p:cNvPr id="488" name="Google Shape;488;g29e00197886_1_229:notes"/>
          <p:cNvSpPr/>
          <p:nvPr>
            <p:ph type="sldImg" idx="2"/>
          </p:nvPr>
        </p:nvSpPr>
        <p:spPr>
          <a:xfrm>
            <a:off x="399119" y="685488"/>
            <a:ext cx="6061316"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7" name="Shape 57"/>
        <p:cNvGrpSpPr/>
        <p:nvPr/>
      </p:nvGrpSpPr>
      <p:grpSpPr>
        <a:xfrm>
          <a:off x="0" y="0"/>
          <a:ext cx="0" cy="0"/>
          <a:chOff x="0" y="0"/>
          <a:chExt cx="0" cy="0"/>
        </a:xfrm>
      </p:grpSpPr>
      <p:sp>
        <p:nvSpPr>
          <p:cNvPr id="58" name="Google Shape;58;p14"/>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1" name="Shape 61"/>
        <p:cNvGrpSpPr/>
        <p:nvPr/>
      </p:nvGrpSpPr>
      <p:grpSpPr>
        <a:xfrm>
          <a:off x="0" y="0"/>
          <a:ext cx="0" cy="0"/>
          <a:chOff x="0" y="0"/>
          <a:chExt cx="0" cy="0"/>
        </a:xfrm>
      </p:grpSpPr>
      <p:sp>
        <p:nvSpPr>
          <p:cNvPr id="62" name="Google Shape;62;p15"/>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0066FF"/>
              </a:buClr>
              <a:buSzPts val="3300"/>
              <a:buFont typeface="Calibri" panose="020F0502020204030204"/>
              <a:buNone/>
              <a:defRPr>
                <a:solidFill>
                  <a:srgbClr val="0066FF"/>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5"/>
          <p:cNvSpPr txBox="1"/>
          <p:nvPr>
            <p:ph type="body" idx="1"/>
          </p:nvPr>
        </p:nvSpPr>
        <p:spPr>
          <a:xfrm>
            <a:off x="628650" y="971550"/>
            <a:ext cx="7886700" cy="3661172"/>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Clr>
                <a:schemeClr val="dk1"/>
              </a:buClr>
              <a:buSzPts val="2100"/>
              <a:buChar char="•"/>
              <a:defRPr>
                <a:latin typeface="Calibri" panose="020F0502020204030204"/>
                <a:ea typeface="Calibri" panose="020F0502020204030204"/>
                <a:cs typeface="Calibri" panose="020F0502020204030204"/>
                <a:sym typeface="Calibri" panose="020F0502020204030204"/>
              </a:defRPr>
            </a:lvl1pPr>
            <a:lvl2pPr marL="914400" lvl="1" indent="-342900" algn="l">
              <a:lnSpc>
                <a:spcPct val="90000"/>
              </a:lnSpc>
              <a:spcBef>
                <a:spcPts val="400"/>
              </a:spcBef>
              <a:spcAft>
                <a:spcPts val="0"/>
              </a:spcAft>
              <a:buClr>
                <a:schemeClr val="dk1"/>
              </a:buClr>
              <a:buSzPts val="1800"/>
              <a:buChar char="•"/>
              <a:defRPr>
                <a:latin typeface="Calibri" panose="020F0502020204030204"/>
                <a:ea typeface="Calibri" panose="020F0502020204030204"/>
                <a:cs typeface="Calibri" panose="020F0502020204030204"/>
                <a:sym typeface="Calibri" panose="020F0502020204030204"/>
              </a:defRPr>
            </a:lvl2pPr>
            <a:lvl3pPr marL="1371600" lvl="2" indent="-323850" algn="l">
              <a:lnSpc>
                <a:spcPct val="90000"/>
              </a:lnSpc>
              <a:spcBef>
                <a:spcPts val="400"/>
              </a:spcBef>
              <a:spcAft>
                <a:spcPts val="0"/>
              </a:spcAft>
              <a:buClr>
                <a:schemeClr val="dk1"/>
              </a:buClr>
              <a:buSzPts val="1500"/>
              <a:buChar char="•"/>
              <a:defRPr>
                <a:latin typeface="Calibri" panose="020F0502020204030204"/>
                <a:ea typeface="Calibri" panose="020F0502020204030204"/>
                <a:cs typeface="Calibri" panose="020F0502020204030204"/>
                <a:sym typeface="Calibri" panose="020F0502020204030204"/>
              </a:defRPr>
            </a:lvl3pPr>
            <a:lvl4pPr marL="1828800" lvl="3" indent="-317500" algn="l">
              <a:lnSpc>
                <a:spcPct val="90000"/>
              </a:lnSpc>
              <a:spcBef>
                <a:spcPts val="400"/>
              </a:spcBef>
              <a:spcAft>
                <a:spcPts val="0"/>
              </a:spcAft>
              <a:buClr>
                <a:schemeClr val="dk1"/>
              </a:buClr>
              <a:buSzPts val="1400"/>
              <a:buChar char="•"/>
              <a:defRPr>
                <a:latin typeface="Calibri" panose="020F0502020204030204"/>
                <a:ea typeface="Calibri" panose="020F0502020204030204"/>
                <a:cs typeface="Calibri" panose="020F0502020204030204"/>
                <a:sym typeface="Calibri" panose="020F0502020204030204"/>
              </a:defRPr>
            </a:lvl4pPr>
            <a:lvl5pPr marL="2286000" lvl="4" indent="-317500" algn="l">
              <a:lnSpc>
                <a:spcPct val="90000"/>
              </a:lnSpc>
              <a:spcBef>
                <a:spcPts val="400"/>
              </a:spcBef>
              <a:spcAft>
                <a:spcPts val="0"/>
              </a:spcAft>
              <a:buClr>
                <a:schemeClr val="dk1"/>
              </a:buClr>
              <a:buSzPts val="1400"/>
              <a:buChar char="•"/>
              <a:defRPr>
                <a:latin typeface="Calibri" panose="020F0502020204030204"/>
                <a:ea typeface="Calibri" panose="020F0502020204030204"/>
                <a:cs typeface="Calibri" panose="020F0502020204030204"/>
                <a:sym typeface="Calibri" panose="020F0502020204030204"/>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64" name="Google Shape;64;p15"/>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
        <p:nvSpPr>
          <p:cNvPr id="67" name="Google Shape;67;p15"/>
          <p:cNvSpPr/>
          <p:nvPr/>
        </p:nvSpPr>
        <p:spPr>
          <a:xfrm>
            <a:off x="0" y="628651"/>
            <a:ext cx="5715000" cy="27385"/>
          </a:xfrm>
          <a:prstGeom prst="rect">
            <a:avLst/>
          </a:prstGeom>
          <a:solidFill>
            <a:srgbClr val="33CCCC"/>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8" name="Shape 68"/>
        <p:cNvGrpSpPr/>
        <p:nvPr/>
      </p:nvGrpSpPr>
      <p:grpSpPr>
        <a:xfrm>
          <a:off x="0" y="0"/>
          <a:ext cx="0" cy="0"/>
          <a:chOff x="0" y="0"/>
          <a:chExt cx="0" cy="0"/>
        </a:xfrm>
      </p:grpSpPr>
      <p:sp>
        <p:nvSpPr>
          <p:cNvPr id="69" name="Google Shape;69;p16"/>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panose="020F050202020403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1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4" name="Shape 74"/>
        <p:cNvGrpSpPr/>
        <p:nvPr/>
      </p:nvGrpSpPr>
      <p:grpSpPr>
        <a:xfrm>
          <a:off x="0" y="0"/>
          <a:ext cx="0" cy="0"/>
          <a:chOff x="0" y="0"/>
          <a:chExt cx="0" cy="0"/>
        </a:xfrm>
      </p:grpSpPr>
      <p:sp>
        <p:nvSpPr>
          <p:cNvPr id="75" name="Google Shape;75;p17"/>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panose="020F050202020403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77" name="Google Shape;77;p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80" name="Shape 80"/>
        <p:cNvGrpSpPr/>
        <p:nvPr/>
      </p:nvGrpSpPr>
      <p:grpSpPr>
        <a:xfrm>
          <a:off x="0" y="0"/>
          <a:ext cx="0" cy="0"/>
          <a:chOff x="0" y="0"/>
          <a:chExt cx="0" cy="0"/>
        </a:xfrm>
      </p:grpSpPr>
      <p:sp>
        <p:nvSpPr>
          <p:cNvPr id="81" name="Google Shape;81;p18"/>
          <p:cNvSpPr txBox="1"/>
          <p:nvPr>
            <p:ph type="title"/>
          </p:nvPr>
        </p:nvSpPr>
        <p:spPr>
          <a:xfrm>
            <a:off x="628650" y="88832"/>
            <a:ext cx="7886700" cy="697706"/>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8"/>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83" name="Google Shape;83;p18"/>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84" name="Google Shape;84;p18"/>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7" name="Shape 87"/>
        <p:cNvGrpSpPr/>
        <p:nvPr/>
      </p:nvGrpSpPr>
      <p:grpSpPr>
        <a:xfrm>
          <a:off x="0" y="0"/>
          <a:ext cx="0" cy="0"/>
          <a:chOff x="0" y="0"/>
          <a:chExt cx="0" cy="0"/>
        </a:xfrm>
      </p:grpSpPr>
      <p:sp>
        <p:nvSpPr>
          <p:cNvPr id="88" name="Google Shape;88;p19"/>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19"/>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90" name="Google Shape;90;p19"/>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91" name="Google Shape;91;p19"/>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92" name="Google Shape;92;p1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93" name="Google Shape;93;p19"/>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6" name="Shape 96"/>
        <p:cNvGrpSpPr/>
        <p:nvPr/>
      </p:nvGrpSpPr>
      <p:grpSpPr>
        <a:xfrm>
          <a:off x="0" y="0"/>
          <a:ext cx="0" cy="0"/>
          <a:chOff x="0" y="0"/>
          <a:chExt cx="0" cy="0"/>
        </a:xfrm>
      </p:grpSpPr>
      <p:sp>
        <p:nvSpPr>
          <p:cNvPr id="97" name="Google Shape;97;p20"/>
          <p:cNvSpPr txBox="1"/>
          <p:nvPr>
            <p:ph type="title"/>
          </p:nvPr>
        </p:nvSpPr>
        <p:spPr>
          <a:xfrm>
            <a:off x="628650" y="88832"/>
            <a:ext cx="7886700" cy="697706"/>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0066FF"/>
              </a:buClr>
              <a:buSzPts val="3300"/>
              <a:buFont typeface="Calibri" panose="020F0502020204030204"/>
              <a:buNone/>
              <a:defRPr>
                <a:solidFill>
                  <a:srgbClr val="0066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2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0"/>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01" name="Shape 101"/>
        <p:cNvGrpSpPr/>
        <p:nvPr/>
      </p:nvGrpSpPr>
      <p:grpSpPr>
        <a:xfrm>
          <a:off x="0" y="0"/>
          <a:ext cx="0" cy="0"/>
          <a:chOff x="0" y="0"/>
          <a:chExt cx="0" cy="0"/>
        </a:xfrm>
      </p:grpSpPr>
      <p:sp>
        <p:nvSpPr>
          <p:cNvPr id="102" name="Google Shape;102;p21"/>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panose="020F050202020403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3" name="Google Shape;103;p21"/>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104" name="Google Shape;104;p21"/>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105" name="Google Shape;105;p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1"/>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8" name="Shape 108"/>
        <p:cNvGrpSpPr/>
        <p:nvPr/>
      </p:nvGrpSpPr>
      <p:grpSpPr>
        <a:xfrm>
          <a:off x="0" y="0"/>
          <a:ext cx="0" cy="0"/>
          <a:chOff x="0" y="0"/>
          <a:chExt cx="0" cy="0"/>
        </a:xfrm>
      </p:grpSpPr>
      <p:sp>
        <p:nvSpPr>
          <p:cNvPr id="109" name="Google Shape;109;p22"/>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panose="020F050202020403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0" name="Google Shape;110;p22"/>
          <p:cNvSpPr/>
          <p:nvPr>
            <p:ph type="pic" idx="2"/>
          </p:nvPr>
        </p:nvSpPr>
        <p:spPr>
          <a:xfrm>
            <a:off x="3887391" y="740569"/>
            <a:ext cx="4629150" cy="3655219"/>
          </a:xfrm>
          <a:prstGeom prst="rect">
            <a:avLst/>
          </a:prstGeom>
          <a:noFill/>
          <a:ln>
            <a:noFill/>
          </a:ln>
        </p:spPr>
      </p:sp>
      <p:sp>
        <p:nvSpPr>
          <p:cNvPr id="111" name="Google Shape;111;p22"/>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112" name="Google Shape;112;p2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image" Target="../media/image1.png"/><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88832"/>
            <a:ext cx="7886700" cy="697706"/>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panose="020F0502020204030204"/>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type="body" idx="1"/>
          </p:nvPr>
        </p:nvSpPr>
        <p:spPr>
          <a:xfrm>
            <a:off x="628650" y="971550"/>
            <a:ext cx="7886700" cy="3661172"/>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1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4" name="Google Shape;54;p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5" name="Google Shape;55;p1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spcAft>
                <a:spcPts val="0"/>
              </a:spcAft>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pic>
        <p:nvPicPr>
          <p:cNvPr id="56" name="Google Shape;56;p13" descr="PESSAT - All India Online Entrance Exam for Admission to PES University"/>
          <p:cNvPicPr preferRelativeResize="0"/>
          <p:nvPr/>
        </p:nvPicPr>
        <p:blipFill rotWithShape="1">
          <a:blip r:embed="rId10"/>
          <a:srcRect/>
          <a:stretch>
            <a:fillRect/>
          </a:stretch>
        </p:blipFill>
        <p:spPr>
          <a:xfrm>
            <a:off x="8079581" y="254794"/>
            <a:ext cx="871538" cy="4000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3.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hyperlink" Target="http://drive.google.com/file/d/1qsz9b4LtrPIkMGZiBV9FR_XLx2VwzXDc/view"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image" Target="../media/image20.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image" Target="../media/image22.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hyperlink" Target="http://drive.google.com/file/d/1gPecUx1J3vW6c5lu7wownrAPIgHBBBQu/view"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3.xml"/><Relationship Id="rId3" Type="http://schemas.openxmlformats.org/officeDocument/2006/relationships/hyperlink" Target="https://www.proquest.com/scholarly-journals/study-on-possible-diagnosis-parkinson-s-disease/docview/2602035071/se-2" TargetMode="External"/><Relationship Id="rId2" Type="http://schemas.openxmlformats.org/officeDocument/2006/relationships/hyperlink" Target="https://www.researchgate.net/publication/353503405_Voice-Based_Deep_Learning_Medical_Diagnosis_System_for_Parkinson's_Disease_Prediction" TargetMode="External"/><Relationship Id="rId1" Type="http://schemas.openxmlformats.org/officeDocument/2006/relationships/hyperlink" Target="https://scholar.google.ae/citations?user=GCxzsogAAAAJ&amp;hl=vi" TargetMode="Externa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hyperlink" Target="https://researchr.org/publication/icccnt-2021"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23"/>
          <p:cNvSpPr/>
          <p:nvPr/>
        </p:nvSpPr>
        <p:spPr>
          <a:xfrm>
            <a:off x="1600200" y="685800"/>
            <a:ext cx="5943600" cy="1454244"/>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GB" sz="2100" b="0" i="0" u="none" strike="noStrike" cap="none">
                <a:solidFill>
                  <a:srgbClr val="0000FF"/>
                </a:solidFill>
                <a:latin typeface="Trebuchet MS" panose="020B0603020202020204"/>
                <a:ea typeface="Trebuchet MS" panose="020B0603020202020204"/>
                <a:cs typeface="Trebuchet MS" panose="020B0603020202020204"/>
                <a:sym typeface="Trebuchet MS" panose="020B0603020202020204"/>
              </a:rPr>
              <a:t>UE20CS461A –  Project Phase – 2</a:t>
            </a:r>
            <a:endParaRPr sz="1100">
              <a:solidFill>
                <a:srgbClr val="0000FF"/>
              </a:solidFill>
            </a:endParaRPr>
          </a:p>
          <a:p>
            <a:pPr marL="0" marR="0" lvl="0" indent="0" algn="ctr" rtl="0">
              <a:spcBef>
                <a:spcPts val="0"/>
              </a:spcBef>
              <a:spcAft>
                <a:spcPts val="0"/>
              </a:spcAft>
              <a:buNone/>
            </a:pPr>
            <a:endParaRPr sz="21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0" marR="0" lvl="0" indent="0" algn="ctr" rtl="0">
              <a:spcBef>
                <a:spcPts val="0"/>
              </a:spcBef>
              <a:spcAft>
                <a:spcPts val="0"/>
              </a:spcAft>
              <a:buNone/>
            </a:pPr>
            <a:endParaRPr sz="2400" b="1" i="0" u="none" strike="noStrike" cap="none">
              <a:solidFill>
                <a:srgbClr val="FF0000"/>
              </a:solidFill>
              <a:latin typeface="Trebuchet MS" panose="020B0603020202020204"/>
              <a:ea typeface="Trebuchet MS" panose="020B0603020202020204"/>
              <a:cs typeface="Trebuchet MS" panose="020B0603020202020204"/>
              <a:sym typeface="Trebuchet MS" panose="020B0603020202020204"/>
            </a:endParaRPr>
          </a:p>
          <a:p>
            <a:pPr marL="0" marR="0" lvl="0" indent="0" algn="ctr" rtl="0">
              <a:spcBef>
                <a:spcPts val="0"/>
              </a:spcBef>
              <a:spcAft>
                <a:spcPts val="0"/>
              </a:spcAft>
              <a:buNone/>
            </a:pPr>
            <a:r>
              <a:rPr lang="en-GB" sz="2400" b="1" i="0" u="none" strike="noStrike" cap="none">
                <a:solidFill>
                  <a:srgbClr val="FF0000"/>
                </a:solidFill>
                <a:latin typeface="Trebuchet MS" panose="020B0603020202020204"/>
                <a:ea typeface="Trebuchet MS" panose="020B0603020202020204"/>
                <a:cs typeface="Trebuchet MS" panose="020B0603020202020204"/>
                <a:sym typeface="Trebuchet MS" panose="020B0603020202020204"/>
              </a:rPr>
              <a:t>END SEMESTER ASSESSMENT </a:t>
            </a:r>
            <a:endParaRPr sz="1100"/>
          </a:p>
        </p:txBody>
      </p:sp>
      <p:sp>
        <p:nvSpPr>
          <p:cNvPr id="120" name="Google Shape;120;p23"/>
          <p:cNvSpPr txBox="1"/>
          <p:nvPr/>
        </p:nvSpPr>
        <p:spPr>
          <a:xfrm>
            <a:off x="987600" y="2326475"/>
            <a:ext cx="7471500" cy="2078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Project Title   :  Bimodal Detection Of Parkinson’s Disease</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Project ID       :  40    </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Project Guide :  Prof. Vandana M L                 </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Project Team  :  SHRUTESH REDDY L            PES2UG20CS464</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   	            AKASH HARSHA HEGDE        PES2UG20CS492</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                         SUMANT KULKARNI 	PES2UG20CS469</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r>
              <a:rPr lang="en-GB" sz="1800">
                <a:solidFill>
                  <a:srgbClr val="0033CC"/>
                </a:solidFill>
                <a:latin typeface="Trebuchet MS" panose="020B0603020202020204"/>
                <a:ea typeface="Trebuchet MS" panose="020B0603020202020204"/>
                <a:cs typeface="Trebuchet MS" panose="020B0603020202020204"/>
                <a:sym typeface="Trebuchet MS" panose="020B0603020202020204"/>
              </a:rPr>
              <a:t>                         MEGHANA N 		PES2UG20CS519	</a:t>
            </a: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lvl="0" indent="0" algn="l" rtl="0">
              <a:spcBef>
                <a:spcPts val="0"/>
              </a:spcBef>
              <a:spcAft>
                <a:spcPts val="0"/>
              </a:spcAft>
              <a:buClr>
                <a:schemeClr val="dk1"/>
              </a:buClr>
              <a:buSzPts val="1100"/>
              <a:buFont typeface="Arial" panose="020B0604020202020204"/>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0" marR="0" lvl="0" indent="0" algn="l" rtl="0">
              <a:spcBef>
                <a:spcPts val="0"/>
              </a:spcBef>
              <a:spcAft>
                <a:spcPts val="0"/>
              </a:spcAft>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24"/>
          <p:cNvSpPr txBox="1"/>
          <p:nvPr/>
        </p:nvSpPr>
        <p:spPr>
          <a:xfrm>
            <a:off x="1228725" y="1885950"/>
            <a:ext cx="6686550" cy="34290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27" name="Google Shape;127;p24"/>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Outline</a:t>
            </a:r>
            <a:endParaRPr b="1"/>
          </a:p>
        </p:txBody>
      </p:sp>
      <p:sp>
        <p:nvSpPr>
          <p:cNvPr id="128" name="Google Shape;128;p24"/>
          <p:cNvSpPr txBox="1"/>
          <p:nvPr>
            <p:ph type="body" idx="1"/>
          </p:nvPr>
        </p:nvSpPr>
        <p:spPr>
          <a:xfrm>
            <a:off x="628650" y="971550"/>
            <a:ext cx="7886700" cy="3661172"/>
          </a:xfrm>
          <a:prstGeom prst="rect">
            <a:avLst/>
          </a:prstGeom>
          <a:noFill/>
          <a:ln>
            <a:noFill/>
          </a:ln>
        </p:spPr>
        <p:txBody>
          <a:bodyPr spcFirstLastPara="1" wrap="square" lIns="68575" tIns="34275" rIns="68575" bIns="34275" anchor="t" anchorCtr="0">
            <a:normAutofit/>
          </a:bodyPr>
          <a:lstStyle/>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Abstract</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Summary of Requirements and Design ( Phase - 1)</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Summary of Methodology / Approach (Phase - 1)</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Design Description</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Modules and Implementation Details</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Project Demonstration and Walkthrough</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Test Plan and Strategy</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Results and Discussion</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Lessons Learnt</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Conclusion and Future Work</a:t>
            </a:r>
            <a:endParaRPr>
              <a:solidFill>
                <a:srgbClr val="0000FF"/>
              </a:solidFill>
            </a:endParaRPr>
          </a:p>
          <a:p>
            <a:pPr marL="508000" lvl="0" indent="-247650" algn="just" rtl="0">
              <a:lnSpc>
                <a:spcPct val="90000"/>
              </a:lnSpc>
              <a:spcBef>
                <a:spcPts val="0"/>
              </a:spcBef>
              <a:spcAft>
                <a:spcPts val="0"/>
              </a:spcAft>
              <a:buClr>
                <a:srgbClr val="0000FF"/>
              </a:buClr>
              <a:buSzPts val="2100"/>
              <a:buFont typeface="Noto Sans Symbols"/>
              <a:buChar char="▪"/>
            </a:pPr>
            <a:r>
              <a:rPr lang="en-GB">
                <a:solidFill>
                  <a:srgbClr val="0000FF"/>
                </a:solidFill>
              </a:rPr>
              <a:t>References</a:t>
            </a:r>
            <a:endParaRPr>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Abstract</a:t>
            </a:r>
            <a:endParaRPr b="1"/>
          </a:p>
        </p:txBody>
      </p:sp>
      <p:sp>
        <p:nvSpPr>
          <p:cNvPr id="135" name="Google Shape;135;p25"/>
          <p:cNvSpPr txBox="1"/>
          <p:nvPr/>
        </p:nvSpPr>
        <p:spPr>
          <a:xfrm>
            <a:off x="255425" y="782425"/>
            <a:ext cx="8504700" cy="4361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Parkinson’s disease have to be treated at an early stage to avoid severe conditions. So in our </a:t>
            </a: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project</a:t>
            </a: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we are trying to </a:t>
            </a: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address</a:t>
            </a: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this problem of detecting parkinson’s disease at an early stage to reduce severity of disease by using two machine learning models.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Timely diagnosis and adequate symptom management are imperative in dealing with Parkinson's disease.</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The utilization of vocal and spiral drawing information has shown effectiveness in identifying Parkinson's disease.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The challenge at hand is to create a model based on machine learning that can identify Parkinson's disease with precise accuracy through vocal and spiral drawing datasets.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6"/>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42" name="Google Shape;142;p26"/>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Summary of Requirements </a:t>
            </a:r>
            <a:endParaRPr lang="en-GB" sz="3000" b="1"/>
          </a:p>
        </p:txBody>
      </p:sp>
      <p:sp>
        <p:nvSpPr>
          <p:cNvPr id="143" name="Google Shape;143;p26"/>
          <p:cNvSpPr txBox="1"/>
          <p:nvPr>
            <p:ph type="body" idx="1"/>
          </p:nvPr>
        </p:nvSpPr>
        <p:spPr>
          <a:xfrm>
            <a:off x="128000" y="755400"/>
            <a:ext cx="8918700" cy="4218600"/>
          </a:xfrm>
          <a:prstGeom prst="rect">
            <a:avLst/>
          </a:prstGeom>
          <a:noFill/>
          <a:ln>
            <a:noFill/>
          </a:ln>
        </p:spPr>
        <p:txBody>
          <a:bodyPr spcFirstLastPara="1" wrap="square" lIns="68575" tIns="34275" rIns="68575" bIns="34275" anchor="t" anchorCtr="0">
            <a:normAutofit fontScale="47500" lnSpcReduction="10000"/>
          </a:bodyPr>
          <a:lstStyle/>
          <a:p>
            <a:pPr marL="0" lvl="0" indent="0" algn="just" rtl="0">
              <a:lnSpc>
                <a:spcPct val="90000"/>
              </a:lnSpc>
              <a:spcBef>
                <a:spcPts val="0"/>
              </a:spcBef>
              <a:spcAft>
                <a:spcPts val="0"/>
              </a:spcAft>
              <a:buNone/>
            </a:pPr>
          </a:p>
          <a:p>
            <a:pPr marL="457200" lvl="0" indent="-354965" algn="just" rtl="0">
              <a:lnSpc>
                <a:spcPct val="90000"/>
              </a:lnSpc>
              <a:spcBef>
                <a:spcPts val="0"/>
              </a:spcBef>
              <a:spcAft>
                <a:spcPts val="0"/>
              </a:spcAft>
              <a:buClr>
                <a:srgbClr val="0000FF"/>
              </a:buClr>
              <a:buSzPct val="100000"/>
              <a:buFont typeface="Times New Roman" panose="02020603050405020304"/>
              <a:buChar char="●"/>
            </a:pPr>
            <a:r>
              <a:rPr lang="en-GB" sz="4200">
                <a:solidFill>
                  <a:srgbClr val="0000FF"/>
                </a:solidFill>
                <a:latin typeface="Times New Roman" panose="02020603050405020304"/>
                <a:ea typeface="Times New Roman" panose="02020603050405020304"/>
                <a:cs typeface="Times New Roman" panose="02020603050405020304"/>
                <a:sym typeface="Times New Roman" panose="02020603050405020304"/>
              </a:rPr>
              <a:t>Data: We have to ensure that the spiral dataset we collected will be correctly labelled as parkinson and non-parkinson and for the vocal dataset all the labels should be correct.</a:t>
            </a: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4965" algn="just" rtl="0">
              <a:lnSpc>
                <a:spcPct val="90000"/>
              </a:lnSpc>
              <a:spcBef>
                <a:spcPts val="0"/>
              </a:spcBef>
              <a:spcAft>
                <a:spcPts val="0"/>
              </a:spcAft>
              <a:buClr>
                <a:srgbClr val="0000FF"/>
              </a:buClr>
              <a:buSzPct val="100000"/>
              <a:buFont typeface="Times New Roman" panose="02020603050405020304"/>
              <a:buChar char="●"/>
            </a:pPr>
            <a:r>
              <a:rPr lang="en-GB" sz="4200">
                <a:solidFill>
                  <a:srgbClr val="0000FF"/>
                </a:solidFill>
                <a:latin typeface="Times New Roman" panose="02020603050405020304"/>
                <a:ea typeface="Times New Roman" panose="02020603050405020304"/>
                <a:cs typeface="Times New Roman" panose="02020603050405020304"/>
                <a:sym typeface="Times New Roman" panose="02020603050405020304"/>
              </a:rPr>
              <a:t>Models: We have to ensure that we are using the models efficiently with the dataset we chose for that with the inbuilts like tensorflow or PyTorch.</a:t>
            </a: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4965" algn="just" rtl="0">
              <a:lnSpc>
                <a:spcPct val="90000"/>
              </a:lnSpc>
              <a:spcBef>
                <a:spcPts val="0"/>
              </a:spcBef>
              <a:spcAft>
                <a:spcPts val="0"/>
              </a:spcAft>
              <a:buClr>
                <a:srgbClr val="0000FF"/>
              </a:buClr>
              <a:buSzPct val="100000"/>
              <a:buFont typeface="Times New Roman" panose="02020603050405020304"/>
              <a:buChar char="●"/>
            </a:pPr>
            <a:r>
              <a:rPr lang="en-GB" sz="4200">
                <a:solidFill>
                  <a:srgbClr val="0000FF"/>
                </a:solidFill>
                <a:latin typeface="Times New Roman" panose="02020603050405020304"/>
                <a:ea typeface="Times New Roman" panose="02020603050405020304"/>
                <a:cs typeface="Times New Roman" panose="02020603050405020304"/>
                <a:sym typeface="Times New Roman" panose="02020603050405020304"/>
              </a:rPr>
              <a:t>Data preprocessing and feature integration : We have to use correct preprocessing steps to ready the dataset for training and validation and we have to correctly integrate the features of both the models for final classifier.</a:t>
            </a: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4965" algn="just" rtl="0">
              <a:lnSpc>
                <a:spcPct val="90000"/>
              </a:lnSpc>
              <a:spcBef>
                <a:spcPts val="0"/>
              </a:spcBef>
              <a:spcAft>
                <a:spcPts val="0"/>
              </a:spcAft>
              <a:buClr>
                <a:srgbClr val="0000FF"/>
              </a:buClr>
              <a:buSzPct val="100000"/>
              <a:buFont typeface="Times New Roman" panose="02020603050405020304"/>
              <a:buChar char="●"/>
            </a:pPr>
            <a:r>
              <a:rPr lang="en-GB" sz="4200">
                <a:solidFill>
                  <a:srgbClr val="0000FF"/>
                </a:solidFill>
                <a:latin typeface="Times New Roman" panose="02020603050405020304"/>
                <a:ea typeface="Times New Roman" panose="02020603050405020304"/>
                <a:cs typeface="Times New Roman" panose="02020603050405020304"/>
                <a:sym typeface="Times New Roman" panose="02020603050405020304"/>
              </a:rPr>
              <a:t>Evaluation metrics : Choosing the correct evaluation metrics for the project is essential . Choose the correct metric that suits for your project like accuracy , F1 score, precision or recall.</a:t>
            </a: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42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139700" lvl="0" indent="0" algn="l" rtl="0">
              <a:lnSpc>
                <a:spcPct val="90000"/>
              </a:lnSpc>
              <a:spcBef>
                <a:spcPts val="800"/>
              </a:spcBef>
              <a:spcAft>
                <a:spcPts val="0"/>
              </a:spcAft>
              <a:buClr>
                <a:schemeClr val="dk1"/>
              </a:buClr>
              <a:buSzPct val="50000"/>
              <a:buNone/>
            </a:pPr>
            <a:endParaRPr sz="4200">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sp>
        <p:nvSpPr>
          <p:cNvPr id="149" name="Google Shape;149;p27"/>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50" name="Google Shape;150;p27"/>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Summary of Requirements </a:t>
            </a:r>
            <a:endParaRPr lang="en-GB" sz="3000" b="1"/>
          </a:p>
        </p:txBody>
      </p:sp>
      <p:sp>
        <p:nvSpPr>
          <p:cNvPr id="151" name="Google Shape;151;p27"/>
          <p:cNvSpPr txBox="1"/>
          <p:nvPr>
            <p:ph type="body" idx="1"/>
          </p:nvPr>
        </p:nvSpPr>
        <p:spPr>
          <a:xfrm>
            <a:off x="128000" y="755400"/>
            <a:ext cx="8918700" cy="42186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0"/>
              </a:spcBef>
              <a:spcAft>
                <a:spcPts val="0"/>
              </a:spcAft>
              <a:buNone/>
            </a:p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Testing and validation : Choosing correct and sufficient portion of the data for testing and validation is important. Choose portion of the data using splitting method.</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13716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Testing on new data : After training, test your models on new, unseen data to assess their real-world performance.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1371600" lvl="0" indent="0" algn="l" rtl="0">
              <a:lnSpc>
                <a:spcPct val="90000"/>
              </a:lnSpc>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28"/>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58" name="Google Shape;158;p28"/>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Background Review</a:t>
            </a:r>
            <a:r>
              <a:rPr lang="en-GB" sz="3000" b="1"/>
              <a:t> </a:t>
            </a:r>
            <a:endParaRPr lang="en-GB" sz="3000" b="1"/>
          </a:p>
        </p:txBody>
      </p:sp>
      <p:sp>
        <p:nvSpPr>
          <p:cNvPr id="159" name="Google Shape;159;p28"/>
          <p:cNvSpPr txBox="1"/>
          <p:nvPr>
            <p:ph type="body" idx="1"/>
          </p:nvPr>
        </p:nvSpPr>
        <p:spPr>
          <a:xfrm>
            <a:off x="128000" y="755400"/>
            <a:ext cx="8918700" cy="4218600"/>
          </a:xfrm>
          <a:prstGeom prst="rect">
            <a:avLst/>
          </a:prstGeom>
          <a:noFill/>
          <a:ln>
            <a:noFill/>
          </a:ln>
        </p:spPr>
        <p:txBody>
          <a:bodyPr spcFirstLastPara="1" wrap="square" lIns="68575" tIns="34275" rIns="68575" bIns="34275" anchor="t" anchorCtr="0">
            <a:normAutofit lnSpcReduction="20000"/>
          </a:bodyPr>
          <a:lstStyle/>
          <a:p>
            <a:pPr marL="457200" lvl="0" indent="0" algn="just" rtl="0">
              <a:lnSpc>
                <a:spcPct val="90000"/>
              </a:lnSpc>
              <a:spcBef>
                <a:spcPts val="0"/>
              </a:spcBef>
              <a:spcAft>
                <a:spcPts val="0"/>
              </a:spcAft>
              <a:buNone/>
            </a:pPr>
            <a:endParaRPr>
              <a:solidFill>
                <a:srgbClr val="0000FF"/>
              </a:solidFill>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Literature Review : Identifying and analyzing the successful models and studies that achieved accurate results is the strength  and exploring the limitations and the challenges faced in the previous research is the weakness in this section.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13716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Methodologies : Analyzing and highlighting the methodologies used in previous work like high-level neural networks, novel approaches for integrating the data and the major weakness would be the limitations in the methodologies like overfitting, sensitivity to noise or computational complexity.</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13716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Dataset : Identify high-quality datasets that have been used successfully in similar projects. Recognize the importance of well-labeled and diverse datasets for training and testing. For this the weakness would be Address any shortcomings in available datasets, such as limited size, lack of diversity, or potential biases.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13716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90000"/>
              </a:lnSpc>
              <a:spcBef>
                <a:spcPts val="800"/>
              </a:spcBef>
              <a:spcAft>
                <a:spcPts val="0"/>
              </a:spcAft>
              <a:buNone/>
            </a:pP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29"/>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66" name="Google Shape;166;p29"/>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Background Review </a:t>
            </a:r>
            <a:endParaRPr lang="en-GB" sz="3000" b="1"/>
          </a:p>
        </p:txBody>
      </p:sp>
      <p:sp>
        <p:nvSpPr>
          <p:cNvPr id="167" name="Google Shape;167;p29"/>
          <p:cNvSpPr txBox="1"/>
          <p:nvPr>
            <p:ph type="body" idx="1"/>
          </p:nvPr>
        </p:nvSpPr>
        <p:spPr>
          <a:xfrm>
            <a:off x="128000" y="755400"/>
            <a:ext cx="8918700" cy="4218600"/>
          </a:xfrm>
          <a:prstGeom prst="rect">
            <a:avLst/>
          </a:prstGeom>
          <a:noFill/>
          <a:ln>
            <a:noFill/>
          </a:ln>
        </p:spPr>
        <p:txBody>
          <a:bodyPr spcFirstLastPara="1" wrap="square" lIns="68575" tIns="34275" rIns="68575" bIns="34275" anchor="t" anchorCtr="0">
            <a:normAutofit/>
          </a:bodyPr>
          <a:lstStyle/>
          <a:p>
            <a:pPr marL="457200" lvl="0" indent="0" algn="just" rtl="0">
              <a:lnSpc>
                <a:spcPct val="90000"/>
              </a:lnSpc>
              <a:spcBef>
                <a:spcPts val="0"/>
              </a:spcBef>
              <a:spcAft>
                <a:spcPts val="0"/>
              </a:spcAft>
              <a:buNone/>
            </a:pPr>
            <a:endParaRPr>
              <a:solidFill>
                <a:srgbClr val="0000FF"/>
              </a:solidFill>
            </a:endParaRPr>
          </a:p>
          <a:p>
            <a:pPr marL="13716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Integration of modalities : Looking for the successful integration techniques for the two datasets like fusion techniques, multi-modal architectures, or feature-level integration. Here the major issue would be aligning temporal aspects of different modalities or handling missing or noisy data.</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90000"/>
              </a:lnSpc>
              <a:spcBef>
                <a:spcPts val="800"/>
              </a:spcBef>
              <a:spcAft>
                <a:spcPts val="0"/>
              </a:spcAft>
              <a:buNone/>
            </a:pPr>
            <a:endParaRPr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sp>
        <p:nvSpPr>
          <p:cNvPr id="173" name="Google Shape;173;p30"/>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74" name="Google Shape;174;p30"/>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a:t>
            </a:r>
            <a:r>
              <a:rPr lang="en-GB" sz="3000" b="1"/>
              <a:t> </a:t>
            </a:r>
            <a:endParaRPr lang="en-GB" sz="3000" b="1"/>
          </a:p>
        </p:txBody>
      </p:sp>
      <p:sp>
        <p:nvSpPr>
          <p:cNvPr id="175" name="Google Shape;175;p30"/>
          <p:cNvSpPr txBox="1"/>
          <p:nvPr/>
        </p:nvSpPr>
        <p:spPr>
          <a:xfrm>
            <a:off x="1202100" y="889500"/>
            <a:ext cx="6058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 name="Google Shape;176;p30"/>
          <p:cNvSpPr txBox="1"/>
          <p:nvPr/>
        </p:nvSpPr>
        <p:spPr>
          <a:xfrm>
            <a:off x="249950" y="628800"/>
            <a:ext cx="8183400" cy="33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solidFill>
                  <a:srgbClr val="0000FF"/>
                </a:solidFill>
                <a:latin typeface="Calibri" panose="020F0502020204030204"/>
                <a:ea typeface="Calibri" panose="020F0502020204030204"/>
                <a:cs typeface="Calibri" panose="020F0502020204030204"/>
                <a:sym typeface="Calibri" panose="020F0502020204030204"/>
              </a:rPr>
              <a:t>Vocal Dataset : </a:t>
            </a:r>
            <a:endParaRPr sz="2100">
              <a:solidFill>
                <a:srgbClr val="0000FF"/>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GB" sz="2100">
                <a:solidFill>
                  <a:srgbClr val="0000FF"/>
                </a:solidFill>
                <a:latin typeface="Calibri" panose="020F0502020204030204"/>
                <a:ea typeface="Calibri" panose="020F0502020204030204"/>
                <a:cs typeface="Calibri" panose="020F0502020204030204"/>
                <a:sym typeface="Calibri" panose="020F0502020204030204"/>
              </a:rPr>
              <a:t> </a:t>
            </a:r>
            <a:endParaRPr sz="2100">
              <a:solidFill>
                <a:srgbClr val="0000FF"/>
              </a:solidFill>
              <a:latin typeface="Calibri" panose="020F0502020204030204"/>
              <a:ea typeface="Calibri" panose="020F0502020204030204"/>
              <a:cs typeface="Calibri" panose="020F0502020204030204"/>
              <a:sym typeface="Calibri" panose="020F0502020204030204"/>
            </a:endParaRPr>
          </a:p>
        </p:txBody>
      </p:sp>
      <p:pic>
        <p:nvPicPr>
          <p:cNvPr id="177" name="Google Shape;177;p30"/>
          <p:cNvPicPr preferRelativeResize="0"/>
          <p:nvPr/>
        </p:nvPicPr>
        <p:blipFill>
          <a:blip r:embed="rId1"/>
          <a:stretch>
            <a:fillRect/>
          </a:stretch>
        </p:blipFill>
        <p:spPr>
          <a:xfrm>
            <a:off x="1055373" y="1209650"/>
            <a:ext cx="6483250" cy="3437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31"/>
          <p:cNvSpPr txBox="1"/>
          <p:nvPr/>
        </p:nvSpPr>
        <p:spPr>
          <a:xfrm>
            <a:off x="564950" y="849875"/>
            <a:ext cx="7950300" cy="41055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84" name="Google Shape;184;p31"/>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 </a:t>
            </a:r>
            <a:endParaRPr lang="en-GB" sz="3000" b="1"/>
          </a:p>
        </p:txBody>
      </p:sp>
      <p:sp>
        <p:nvSpPr>
          <p:cNvPr id="185" name="Google Shape;185;p31"/>
          <p:cNvSpPr txBox="1"/>
          <p:nvPr/>
        </p:nvSpPr>
        <p:spPr>
          <a:xfrm>
            <a:off x="634100" y="773800"/>
            <a:ext cx="36891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86" name="Google Shape;186;p31"/>
          <p:cNvPicPr preferRelativeResize="0"/>
          <p:nvPr/>
        </p:nvPicPr>
        <p:blipFill>
          <a:blip r:embed="rId1"/>
          <a:stretch>
            <a:fillRect/>
          </a:stretch>
        </p:blipFill>
        <p:spPr>
          <a:xfrm>
            <a:off x="796400" y="1117864"/>
            <a:ext cx="7043702" cy="3569526"/>
          </a:xfrm>
          <a:prstGeom prst="rect">
            <a:avLst/>
          </a:prstGeom>
          <a:noFill/>
          <a:ln>
            <a:noFill/>
          </a:ln>
        </p:spPr>
      </p:pic>
      <p:sp>
        <p:nvSpPr>
          <p:cNvPr id="187" name="Google Shape;187;p31"/>
          <p:cNvSpPr txBox="1"/>
          <p:nvPr/>
        </p:nvSpPr>
        <p:spPr>
          <a:xfrm>
            <a:off x="796400" y="628800"/>
            <a:ext cx="58923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Vocal Dataset after feature extraction :</a:t>
            </a: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sp>
        <p:nvSpPr>
          <p:cNvPr id="193" name="Google Shape;193;p32"/>
          <p:cNvSpPr txBox="1"/>
          <p:nvPr/>
        </p:nvSpPr>
        <p:spPr>
          <a:xfrm>
            <a:off x="564950" y="849875"/>
            <a:ext cx="7950300" cy="41055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194" name="Google Shape;194;p32"/>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 </a:t>
            </a:r>
            <a:endParaRPr lang="en-GB" sz="3000" b="1"/>
          </a:p>
        </p:txBody>
      </p:sp>
      <p:sp>
        <p:nvSpPr>
          <p:cNvPr id="195" name="Google Shape;195;p32"/>
          <p:cNvSpPr txBox="1"/>
          <p:nvPr/>
        </p:nvSpPr>
        <p:spPr>
          <a:xfrm>
            <a:off x="634100" y="773800"/>
            <a:ext cx="36891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96" name="Google Shape;196;p32"/>
          <p:cNvPicPr preferRelativeResize="0"/>
          <p:nvPr/>
        </p:nvPicPr>
        <p:blipFill rotWithShape="1">
          <a:blip r:embed="rId1"/>
          <a:srcRect l="2813" t="7723" r="-4017"/>
          <a:stretch>
            <a:fillRect/>
          </a:stretch>
        </p:blipFill>
        <p:spPr>
          <a:xfrm>
            <a:off x="889763" y="1207000"/>
            <a:ext cx="7050374" cy="3250901"/>
          </a:xfrm>
          <a:prstGeom prst="rect">
            <a:avLst/>
          </a:prstGeom>
          <a:noFill/>
          <a:ln>
            <a:noFill/>
          </a:ln>
        </p:spPr>
      </p:pic>
      <p:sp>
        <p:nvSpPr>
          <p:cNvPr id="197" name="Google Shape;197;p32"/>
          <p:cNvSpPr txBox="1"/>
          <p:nvPr/>
        </p:nvSpPr>
        <p:spPr>
          <a:xfrm>
            <a:off x="889775" y="699088"/>
            <a:ext cx="537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100">
                <a:solidFill>
                  <a:srgbClr val="0000FF"/>
                </a:solidFill>
                <a:latin typeface="Calibri" panose="020F0502020204030204"/>
                <a:ea typeface="Calibri" panose="020F0502020204030204"/>
                <a:cs typeface="Calibri" panose="020F0502020204030204"/>
                <a:sym typeface="Calibri" panose="020F0502020204030204"/>
              </a:rPr>
              <a:t>Spiral Dataset</a:t>
            </a:r>
            <a:endParaRPr sz="2100">
              <a:solidFill>
                <a:srgbClr val="0000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33"/>
          <p:cNvSpPr txBox="1"/>
          <p:nvPr/>
        </p:nvSpPr>
        <p:spPr>
          <a:xfrm>
            <a:off x="564950" y="849875"/>
            <a:ext cx="7950300" cy="41055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04" name="Google Shape;204;p33"/>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 </a:t>
            </a:r>
            <a:endParaRPr lang="en-GB" sz="3000" b="1"/>
          </a:p>
        </p:txBody>
      </p:sp>
      <p:sp>
        <p:nvSpPr>
          <p:cNvPr id="205" name="Google Shape;205;p33"/>
          <p:cNvSpPr txBox="1"/>
          <p:nvPr/>
        </p:nvSpPr>
        <p:spPr>
          <a:xfrm>
            <a:off x="634100" y="773800"/>
            <a:ext cx="36891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 name="Google Shape;206;p33"/>
          <p:cNvSpPr txBox="1"/>
          <p:nvPr/>
        </p:nvSpPr>
        <p:spPr>
          <a:xfrm>
            <a:off x="908450" y="851413"/>
            <a:ext cx="537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rgbClr val="0000FF"/>
              </a:solidFill>
              <a:latin typeface="Calibri" panose="020F0502020204030204"/>
              <a:ea typeface="Calibri" panose="020F0502020204030204"/>
              <a:cs typeface="Calibri" panose="020F0502020204030204"/>
              <a:sym typeface="Calibri" panose="020F0502020204030204"/>
            </a:endParaRPr>
          </a:p>
        </p:txBody>
      </p:sp>
      <p:pic>
        <p:nvPicPr>
          <p:cNvPr id="207" name="Google Shape;207;p33"/>
          <p:cNvPicPr preferRelativeResize="0"/>
          <p:nvPr/>
        </p:nvPicPr>
        <p:blipFill>
          <a:blip r:embed="rId1"/>
          <a:stretch>
            <a:fillRect/>
          </a:stretch>
        </p:blipFill>
        <p:spPr>
          <a:xfrm>
            <a:off x="908450" y="1132300"/>
            <a:ext cx="6284399" cy="3329251"/>
          </a:xfrm>
          <a:prstGeom prst="rect">
            <a:avLst/>
          </a:prstGeom>
          <a:noFill/>
          <a:ln>
            <a:noFill/>
          </a:ln>
        </p:spPr>
      </p:pic>
      <p:sp>
        <p:nvSpPr>
          <p:cNvPr id="208" name="Google Shape;208;p33"/>
          <p:cNvSpPr txBox="1"/>
          <p:nvPr/>
        </p:nvSpPr>
        <p:spPr>
          <a:xfrm>
            <a:off x="908450" y="582125"/>
            <a:ext cx="5378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Spiral</a:t>
            </a: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 Dataset after feature extraction :</a:t>
            </a: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34"/>
          <p:cNvSpPr txBox="1"/>
          <p:nvPr/>
        </p:nvSpPr>
        <p:spPr>
          <a:xfrm>
            <a:off x="91675" y="628800"/>
            <a:ext cx="9052200" cy="41055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15" name="Google Shape;215;p34"/>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 </a:t>
            </a:r>
            <a:endParaRPr lang="en-GB" sz="3000" b="1"/>
          </a:p>
        </p:txBody>
      </p:sp>
      <p:sp>
        <p:nvSpPr>
          <p:cNvPr id="216" name="Google Shape;216;p34"/>
          <p:cNvSpPr txBox="1"/>
          <p:nvPr/>
        </p:nvSpPr>
        <p:spPr>
          <a:xfrm>
            <a:off x="634100" y="773800"/>
            <a:ext cx="36891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Google Shape;217;p34"/>
          <p:cNvSpPr txBox="1"/>
          <p:nvPr/>
        </p:nvSpPr>
        <p:spPr>
          <a:xfrm>
            <a:off x="908450" y="851413"/>
            <a:ext cx="537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rgbClr val="0000FF"/>
              </a:solidFill>
              <a:latin typeface="Calibri" panose="020F0502020204030204"/>
              <a:ea typeface="Calibri" panose="020F0502020204030204"/>
              <a:cs typeface="Calibri" panose="020F0502020204030204"/>
              <a:sym typeface="Calibri" panose="020F0502020204030204"/>
            </a:endParaRPr>
          </a:p>
        </p:txBody>
      </p:sp>
      <p:sp>
        <p:nvSpPr>
          <p:cNvPr id="218" name="Google Shape;218;p34"/>
          <p:cNvSpPr txBox="1"/>
          <p:nvPr/>
        </p:nvSpPr>
        <p:spPr>
          <a:xfrm>
            <a:off x="0" y="582125"/>
            <a:ext cx="62871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Spiral Data before Time series normalization:</a:t>
            </a: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Person 1:									Person 2:</a:t>
            </a: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9" name="Google Shape;219;p34"/>
          <p:cNvPicPr preferRelativeResize="0"/>
          <p:nvPr/>
        </p:nvPicPr>
        <p:blipFill>
          <a:blip r:embed="rId1"/>
          <a:stretch>
            <a:fillRect/>
          </a:stretch>
        </p:blipFill>
        <p:spPr>
          <a:xfrm>
            <a:off x="0" y="1359325"/>
            <a:ext cx="3394600" cy="1377000"/>
          </a:xfrm>
          <a:prstGeom prst="rect">
            <a:avLst/>
          </a:prstGeom>
          <a:noFill/>
          <a:ln>
            <a:noFill/>
          </a:ln>
        </p:spPr>
      </p:pic>
      <p:pic>
        <p:nvPicPr>
          <p:cNvPr id="220" name="Google Shape;220;p34"/>
          <p:cNvPicPr preferRelativeResize="0"/>
          <p:nvPr/>
        </p:nvPicPr>
        <p:blipFill>
          <a:blip r:embed="rId2"/>
          <a:stretch>
            <a:fillRect/>
          </a:stretch>
        </p:blipFill>
        <p:spPr>
          <a:xfrm>
            <a:off x="91674" y="3579900"/>
            <a:ext cx="3302925" cy="1234450"/>
          </a:xfrm>
          <a:prstGeom prst="rect">
            <a:avLst/>
          </a:prstGeom>
          <a:noFill/>
          <a:ln>
            <a:noFill/>
          </a:ln>
        </p:spPr>
      </p:pic>
      <p:pic>
        <p:nvPicPr>
          <p:cNvPr id="221" name="Google Shape;221;p34"/>
          <p:cNvPicPr preferRelativeResize="0"/>
          <p:nvPr/>
        </p:nvPicPr>
        <p:blipFill>
          <a:blip r:embed="rId3"/>
          <a:stretch>
            <a:fillRect/>
          </a:stretch>
        </p:blipFill>
        <p:spPr>
          <a:xfrm>
            <a:off x="5120750" y="1368900"/>
            <a:ext cx="3394600" cy="1357840"/>
          </a:xfrm>
          <a:prstGeom prst="rect">
            <a:avLst/>
          </a:prstGeom>
          <a:noFill/>
          <a:ln>
            <a:noFill/>
          </a:ln>
        </p:spPr>
      </p:pic>
      <p:pic>
        <p:nvPicPr>
          <p:cNvPr id="222" name="Google Shape;222;p34"/>
          <p:cNvPicPr preferRelativeResize="0"/>
          <p:nvPr/>
        </p:nvPicPr>
        <p:blipFill>
          <a:blip r:embed="rId4"/>
          <a:stretch>
            <a:fillRect/>
          </a:stretch>
        </p:blipFill>
        <p:spPr>
          <a:xfrm>
            <a:off x="5120750" y="3466850"/>
            <a:ext cx="3302925" cy="1377000"/>
          </a:xfrm>
          <a:prstGeom prst="rect">
            <a:avLst/>
          </a:prstGeom>
          <a:noFill/>
          <a:ln>
            <a:noFill/>
          </a:ln>
        </p:spPr>
      </p:pic>
      <p:sp>
        <p:nvSpPr>
          <p:cNvPr id="223" name="Google Shape;223;p34"/>
          <p:cNvSpPr txBox="1"/>
          <p:nvPr/>
        </p:nvSpPr>
        <p:spPr>
          <a:xfrm>
            <a:off x="114300" y="2726750"/>
            <a:ext cx="60585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100">
                <a:solidFill>
                  <a:schemeClr val="dk1"/>
                </a:solidFill>
                <a:latin typeface="Calibri" panose="020F0502020204030204"/>
                <a:ea typeface="Calibri" panose="020F0502020204030204"/>
                <a:cs typeface="Calibri" panose="020F0502020204030204"/>
                <a:sym typeface="Calibri" panose="020F0502020204030204"/>
              </a:rPr>
              <a:t>.</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GB" sz="2100">
                <a:solidFill>
                  <a:schemeClr val="dk1"/>
                </a:solidFill>
                <a:latin typeface="Calibri" panose="020F0502020204030204"/>
                <a:ea typeface="Calibri" panose="020F0502020204030204"/>
                <a:cs typeface="Calibri" panose="020F0502020204030204"/>
                <a:sym typeface="Calibri" panose="020F0502020204030204"/>
              </a:rPr>
              <a:t>.</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4" name="Google Shape;224;p34"/>
          <p:cNvSpPr txBox="1"/>
          <p:nvPr/>
        </p:nvSpPr>
        <p:spPr>
          <a:xfrm>
            <a:off x="5120750" y="2736325"/>
            <a:ext cx="60585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100">
                <a:solidFill>
                  <a:schemeClr val="dk1"/>
                </a:solidFill>
                <a:latin typeface="Calibri" panose="020F0502020204030204"/>
                <a:ea typeface="Calibri" panose="020F0502020204030204"/>
                <a:cs typeface="Calibri" panose="020F0502020204030204"/>
                <a:sym typeface="Calibri" panose="020F0502020204030204"/>
              </a:rPr>
              <a:t>.</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GB" sz="2100">
                <a:solidFill>
                  <a:schemeClr val="dk1"/>
                </a:solidFill>
                <a:latin typeface="Calibri" panose="020F0502020204030204"/>
                <a:ea typeface="Calibri" panose="020F0502020204030204"/>
                <a:cs typeface="Calibri" panose="020F0502020204030204"/>
                <a:sym typeface="Calibri" panose="020F0502020204030204"/>
              </a:rPr>
              <a:t>.</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29" name="Shape 229"/>
        <p:cNvGrpSpPr/>
        <p:nvPr/>
      </p:nvGrpSpPr>
      <p:grpSpPr>
        <a:xfrm>
          <a:off x="0" y="0"/>
          <a:ext cx="0" cy="0"/>
          <a:chOff x="0" y="0"/>
          <a:chExt cx="0" cy="0"/>
        </a:xfrm>
      </p:grpSpPr>
      <p:sp>
        <p:nvSpPr>
          <p:cNvPr id="230" name="Google Shape;230;p35"/>
          <p:cNvSpPr txBox="1"/>
          <p:nvPr/>
        </p:nvSpPr>
        <p:spPr>
          <a:xfrm>
            <a:off x="-125" y="773800"/>
            <a:ext cx="9144000" cy="43698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31" name="Google Shape;231;p35"/>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 </a:t>
            </a:r>
            <a:endParaRPr lang="en-GB" sz="3000" b="1"/>
          </a:p>
        </p:txBody>
      </p:sp>
      <p:sp>
        <p:nvSpPr>
          <p:cNvPr id="232" name="Google Shape;232;p35"/>
          <p:cNvSpPr txBox="1"/>
          <p:nvPr/>
        </p:nvSpPr>
        <p:spPr>
          <a:xfrm>
            <a:off x="634100" y="773800"/>
            <a:ext cx="36891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 name="Google Shape;233;p35"/>
          <p:cNvSpPr txBox="1"/>
          <p:nvPr/>
        </p:nvSpPr>
        <p:spPr>
          <a:xfrm>
            <a:off x="908450" y="851413"/>
            <a:ext cx="537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rgbClr val="0000FF"/>
              </a:solidFill>
              <a:latin typeface="Calibri" panose="020F0502020204030204"/>
              <a:ea typeface="Calibri" panose="020F0502020204030204"/>
              <a:cs typeface="Calibri" panose="020F0502020204030204"/>
              <a:sym typeface="Calibri" panose="020F0502020204030204"/>
            </a:endParaRPr>
          </a:p>
        </p:txBody>
      </p:sp>
      <p:sp>
        <p:nvSpPr>
          <p:cNvPr id="234" name="Google Shape;234;p35"/>
          <p:cNvSpPr txBox="1"/>
          <p:nvPr/>
        </p:nvSpPr>
        <p:spPr>
          <a:xfrm>
            <a:off x="0" y="582125"/>
            <a:ext cx="62871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Spiral Data after Time series normalization:</a:t>
            </a: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GB" sz="2100">
                <a:solidFill>
                  <a:srgbClr val="0000FF"/>
                </a:solidFill>
                <a:latin typeface="Times New Roman" panose="02020603050405020304"/>
                <a:ea typeface="Times New Roman" panose="02020603050405020304"/>
                <a:cs typeface="Times New Roman" panose="02020603050405020304"/>
                <a:sym typeface="Times New Roman" panose="02020603050405020304"/>
              </a:rPr>
              <a:t>Person 1:									Person 2:</a:t>
            </a: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1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35" name="Google Shape;235;p35"/>
          <p:cNvPicPr preferRelativeResize="0"/>
          <p:nvPr/>
        </p:nvPicPr>
        <p:blipFill>
          <a:blip r:embed="rId1"/>
          <a:stretch>
            <a:fillRect/>
          </a:stretch>
        </p:blipFill>
        <p:spPr>
          <a:xfrm>
            <a:off x="0" y="1359325"/>
            <a:ext cx="3689100" cy="1377000"/>
          </a:xfrm>
          <a:prstGeom prst="rect">
            <a:avLst/>
          </a:prstGeom>
          <a:noFill/>
          <a:ln>
            <a:noFill/>
          </a:ln>
        </p:spPr>
      </p:pic>
      <p:pic>
        <p:nvPicPr>
          <p:cNvPr id="236" name="Google Shape;236;p35"/>
          <p:cNvPicPr preferRelativeResize="0"/>
          <p:nvPr/>
        </p:nvPicPr>
        <p:blipFill>
          <a:blip r:embed="rId2"/>
          <a:stretch>
            <a:fillRect/>
          </a:stretch>
        </p:blipFill>
        <p:spPr>
          <a:xfrm>
            <a:off x="5120750" y="1368900"/>
            <a:ext cx="4110051" cy="1357850"/>
          </a:xfrm>
          <a:prstGeom prst="rect">
            <a:avLst/>
          </a:prstGeom>
          <a:noFill/>
          <a:ln>
            <a:noFill/>
          </a:ln>
        </p:spPr>
      </p:pic>
      <p:pic>
        <p:nvPicPr>
          <p:cNvPr id="237" name="Google Shape;237;p35"/>
          <p:cNvPicPr preferRelativeResize="0"/>
          <p:nvPr/>
        </p:nvPicPr>
        <p:blipFill>
          <a:blip r:embed="rId3"/>
          <a:stretch>
            <a:fillRect/>
          </a:stretch>
        </p:blipFill>
        <p:spPr>
          <a:xfrm>
            <a:off x="-5" y="3400425"/>
            <a:ext cx="3394601" cy="1743075"/>
          </a:xfrm>
          <a:prstGeom prst="rect">
            <a:avLst/>
          </a:prstGeom>
          <a:noFill/>
          <a:ln>
            <a:noFill/>
          </a:ln>
        </p:spPr>
      </p:pic>
      <p:sp>
        <p:nvSpPr>
          <p:cNvPr id="238" name="Google Shape;238;p35"/>
          <p:cNvSpPr txBox="1"/>
          <p:nvPr/>
        </p:nvSpPr>
        <p:spPr>
          <a:xfrm>
            <a:off x="61725" y="2632050"/>
            <a:ext cx="60585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100">
                <a:solidFill>
                  <a:schemeClr val="dk1"/>
                </a:solidFill>
                <a:latin typeface="Calibri" panose="020F0502020204030204"/>
                <a:ea typeface="Calibri" panose="020F0502020204030204"/>
                <a:cs typeface="Calibri" panose="020F0502020204030204"/>
                <a:sym typeface="Calibri" panose="020F0502020204030204"/>
              </a:rPr>
              <a:t>.</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GB" sz="2100">
                <a:solidFill>
                  <a:schemeClr val="dk1"/>
                </a:solidFill>
                <a:latin typeface="Calibri" panose="020F0502020204030204"/>
                <a:ea typeface="Calibri" panose="020F0502020204030204"/>
                <a:cs typeface="Calibri" panose="020F0502020204030204"/>
                <a:sym typeface="Calibri" panose="020F0502020204030204"/>
              </a:rPr>
              <a:t>.</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39" name="Google Shape;239;p35"/>
          <p:cNvPicPr preferRelativeResize="0"/>
          <p:nvPr/>
        </p:nvPicPr>
        <p:blipFill>
          <a:blip r:embed="rId4"/>
          <a:stretch>
            <a:fillRect/>
          </a:stretch>
        </p:blipFill>
        <p:spPr>
          <a:xfrm>
            <a:off x="5120750" y="3400525"/>
            <a:ext cx="4286576" cy="1743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44" name="Shape 244"/>
        <p:cNvGrpSpPr/>
        <p:nvPr/>
      </p:nvGrpSpPr>
      <p:grpSpPr>
        <a:xfrm>
          <a:off x="0" y="0"/>
          <a:ext cx="0" cy="0"/>
          <a:chOff x="0" y="0"/>
          <a:chExt cx="0" cy="0"/>
        </a:xfrm>
      </p:grpSpPr>
      <p:sp>
        <p:nvSpPr>
          <p:cNvPr id="245" name="Google Shape;245;p36"/>
          <p:cNvSpPr txBox="1"/>
          <p:nvPr/>
        </p:nvSpPr>
        <p:spPr>
          <a:xfrm>
            <a:off x="564950" y="849875"/>
            <a:ext cx="7950300" cy="41055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46" name="Google Shape;246;p36"/>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Dataset </a:t>
            </a:r>
            <a:endParaRPr lang="en-GB" sz="3000" b="1"/>
          </a:p>
        </p:txBody>
      </p:sp>
      <p:sp>
        <p:nvSpPr>
          <p:cNvPr id="247" name="Google Shape;247;p36"/>
          <p:cNvSpPr txBox="1"/>
          <p:nvPr/>
        </p:nvSpPr>
        <p:spPr>
          <a:xfrm>
            <a:off x="634100" y="773800"/>
            <a:ext cx="3689100" cy="3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p36"/>
          <p:cNvSpPr txBox="1"/>
          <p:nvPr/>
        </p:nvSpPr>
        <p:spPr>
          <a:xfrm>
            <a:off x="634100" y="628788"/>
            <a:ext cx="5378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100">
                <a:solidFill>
                  <a:srgbClr val="0000FF"/>
                </a:solidFill>
                <a:latin typeface="Calibri" panose="020F0502020204030204"/>
                <a:ea typeface="Calibri" panose="020F0502020204030204"/>
                <a:cs typeface="Calibri" panose="020F0502020204030204"/>
                <a:sym typeface="Calibri" panose="020F0502020204030204"/>
              </a:rPr>
              <a:t>Fused dataset : </a:t>
            </a:r>
            <a:endParaRPr sz="2100">
              <a:solidFill>
                <a:srgbClr val="0000FF"/>
              </a:solidFill>
              <a:latin typeface="Calibri" panose="020F0502020204030204"/>
              <a:ea typeface="Calibri" panose="020F0502020204030204"/>
              <a:cs typeface="Calibri" panose="020F0502020204030204"/>
              <a:sym typeface="Calibri" panose="020F0502020204030204"/>
            </a:endParaRPr>
          </a:p>
        </p:txBody>
      </p:sp>
      <p:pic>
        <p:nvPicPr>
          <p:cNvPr id="249" name="Google Shape;249;p36"/>
          <p:cNvPicPr preferRelativeResize="0"/>
          <p:nvPr/>
        </p:nvPicPr>
        <p:blipFill>
          <a:blip r:embed="rId1"/>
          <a:stretch>
            <a:fillRect/>
          </a:stretch>
        </p:blipFill>
        <p:spPr>
          <a:xfrm>
            <a:off x="634100" y="1081201"/>
            <a:ext cx="6933600" cy="3800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37"/>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56" name="Google Shape;256;p37"/>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DBN &amp; CNN </a:t>
            </a:r>
            <a:endParaRPr lang="en-GB" sz="3000" b="1"/>
          </a:p>
        </p:txBody>
      </p:sp>
      <p:pic>
        <p:nvPicPr>
          <p:cNvPr id="257" name="Google Shape;257;p37"/>
          <p:cNvPicPr preferRelativeResize="0"/>
          <p:nvPr/>
        </p:nvPicPr>
        <p:blipFill>
          <a:blip r:embed="rId1"/>
          <a:stretch>
            <a:fillRect/>
          </a:stretch>
        </p:blipFill>
        <p:spPr>
          <a:xfrm>
            <a:off x="669000" y="877975"/>
            <a:ext cx="6678187" cy="3694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62" name="Shape 262"/>
        <p:cNvGrpSpPr/>
        <p:nvPr/>
      </p:nvGrpSpPr>
      <p:grpSpPr>
        <a:xfrm>
          <a:off x="0" y="0"/>
          <a:ext cx="0" cy="0"/>
          <a:chOff x="0" y="0"/>
          <a:chExt cx="0" cy="0"/>
        </a:xfrm>
      </p:grpSpPr>
      <p:sp>
        <p:nvSpPr>
          <p:cNvPr id="263" name="Google Shape;263;p38"/>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64" name="Google Shape;264;p38"/>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Ensemble</a:t>
            </a:r>
            <a:endParaRPr lang="en-GB" sz="3000" b="1"/>
          </a:p>
        </p:txBody>
      </p:sp>
      <p:pic>
        <p:nvPicPr>
          <p:cNvPr id="265" name="Google Shape;265;p38"/>
          <p:cNvPicPr preferRelativeResize="0"/>
          <p:nvPr/>
        </p:nvPicPr>
        <p:blipFill rotWithShape="1">
          <a:blip r:embed="rId1"/>
          <a:srcRect b="18019"/>
          <a:stretch>
            <a:fillRect/>
          </a:stretch>
        </p:blipFill>
        <p:spPr>
          <a:xfrm>
            <a:off x="1000125" y="1555425"/>
            <a:ext cx="7143750" cy="23907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39"/>
          <p:cNvSpPr txBox="1"/>
          <p:nvPr>
            <p:ph type="title"/>
          </p:nvPr>
        </p:nvSpPr>
        <p:spPr>
          <a:xfrm>
            <a:off x="628650" y="1"/>
            <a:ext cx="7886700" cy="6288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GB"/>
              <a:t>Explored Models</a:t>
            </a:r>
            <a:endParaRPr lang="en-GB"/>
          </a:p>
        </p:txBody>
      </p:sp>
      <p:sp>
        <p:nvSpPr>
          <p:cNvPr id="271" name="Google Shape;271;p39"/>
          <p:cNvSpPr txBox="1"/>
          <p:nvPr>
            <p:ph type="body" idx="1"/>
          </p:nvPr>
        </p:nvSpPr>
        <p:spPr>
          <a:xfrm>
            <a:off x="565550" y="940000"/>
            <a:ext cx="8420100" cy="3661200"/>
          </a:xfrm>
          <a:prstGeom prst="rect">
            <a:avLst/>
          </a:prstGeom>
        </p:spPr>
        <p:txBody>
          <a:bodyPr spcFirstLastPara="1" wrap="square" lIns="68575" tIns="34275" rIns="68575" bIns="34275" anchor="t" anchorCtr="0">
            <a:normAutofit/>
          </a:bodyPr>
          <a:lstStyle/>
          <a:p>
            <a:pPr marL="457200" lvl="0" indent="-361950" algn="l" rtl="0">
              <a:spcBef>
                <a:spcPts val="800"/>
              </a:spcBef>
              <a:spcAft>
                <a:spcPts val="0"/>
              </a:spcAft>
              <a:buClr>
                <a:srgbClr val="0000FF"/>
              </a:buClr>
              <a:buSzPts val="2100"/>
              <a:buChar char="•"/>
            </a:pPr>
            <a:r>
              <a:rPr lang="en-GB">
                <a:solidFill>
                  <a:srgbClr val="0000FF"/>
                </a:solidFill>
              </a:rPr>
              <a:t>CNN  is trained using only spiral dataset and got accuracy if 70%</a:t>
            </a:r>
            <a:endParaRPr>
              <a:solidFill>
                <a:srgbClr val="0000FF"/>
              </a:solidFill>
            </a:endParaRPr>
          </a:p>
          <a:p>
            <a:pPr marL="457200" lvl="0" indent="-361950" algn="l" rtl="0">
              <a:spcBef>
                <a:spcPts val="0"/>
              </a:spcBef>
              <a:spcAft>
                <a:spcPts val="0"/>
              </a:spcAft>
              <a:buClr>
                <a:srgbClr val="0000FF"/>
              </a:buClr>
              <a:buSzPts val="2100"/>
              <a:buChar char="•"/>
            </a:pPr>
            <a:r>
              <a:rPr lang="en-GB">
                <a:solidFill>
                  <a:srgbClr val="0000FF"/>
                </a:solidFill>
              </a:rPr>
              <a:t>DBN is trained using only Vocal dataset and got accuracy of 93%</a:t>
            </a:r>
            <a:endParaRPr>
              <a:solidFill>
                <a:srgbClr val="0000FF"/>
              </a:solidFill>
            </a:endParaRPr>
          </a:p>
          <a:p>
            <a:pPr marL="457200" lvl="0" indent="0" algn="l" rtl="0">
              <a:spcBef>
                <a:spcPts val="800"/>
              </a:spcBef>
              <a:spcAft>
                <a:spcPts val="0"/>
              </a:spcAft>
              <a:buNone/>
            </a:pPr>
            <a:endParaRPr>
              <a:solidFill>
                <a:srgbClr val="0000FF"/>
              </a:solidFill>
            </a:endParaRPr>
          </a:p>
          <a:p>
            <a:pPr marL="457200" lvl="0" indent="-361950" algn="l" rtl="0">
              <a:spcBef>
                <a:spcPts val="800"/>
              </a:spcBef>
              <a:spcAft>
                <a:spcPts val="0"/>
              </a:spcAft>
              <a:buClr>
                <a:srgbClr val="0000FF"/>
              </a:buClr>
              <a:buSzPts val="2100"/>
              <a:buChar char="•"/>
            </a:pPr>
            <a:r>
              <a:rPr lang="en-GB">
                <a:solidFill>
                  <a:srgbClr val="0000FF"/>
                </a:solidFill>
              </a:rPr>
              <a:t>Ensemble</a:t>
            </a:r>
            <a:r>
              <a:rPr lang="en-GB">
                <a:solidFill>
                  <a:srgbClr val="0000FF"/>
                </a:solidFill>
              </a:rPr>
              <a:t> model</a:t>
            </a:r>
            <a:endParaRPr>
              <a:solidFill>
                <a:srgbClr val="0000FF"/>
              </a:solidFill>
            </a:endParaRPr>
          </a:p>
          <a:p>
            <a:pPr marL="914400" lvl="1" indent="-342900" algn="l" rtl="0">
              <a:spcBef>
                <a:spcPts val="0"/>
              </a:spcBef>
              <a:spcAft>
                <a:spcPts val="0"/>
              </a:spcAft>
              <a:buClr>
                <a:srgbClr val="0000FF"/>
              </a:buClr>
              <a:buSzPts val="1800"/>
              <a:buChar char="•"/>
            </a:pPr>
            <a:r>
              <a:rPr lang="en-GB">
                <a:solidFill>
                  <a:srgbClr val="0000FF"/>
                </a:solidFill>
              </a:rPr>
              <a:t>CNN is trained using fused dataset and got accuracy of 70%</a:t>
            </a:r>
            <a:endParaRPr>
              <a:solidFill>
                <a:srgbClr val="0000FF"/>
              </a:solidFill>
            </a:endParaRPr>
          </a:p>
          <a:p>
            <a:pPr marL="914400" lvl="1" indent="-342900" algn="l" rtl="0">
              <a:spcBef>
                <a:spcPts val="0"/>
              </a:spcBef>
              <a:spcAft>
                <a:spcPts val="0"/>
              </a:spcAft>
              <a:buClr>
                <a:srgbClr val="0000FF"/>
              </a:buClr>
              <a:buSzPts val="1800"/>
              <a:buChar char="•"/>
            </a:pPr>
            <a:r>
              <a:rPr lang="en-GB">
                <a:solidFill>
                  <a:srgbClr val="0000FF"/>
                </a:solidFill>
              </a:rPr>
              <a:t>DBN is trained using fused dataset and got accuracy of 97%</a:t>
            </a:r>
            <a:endParaRPr>
              <a:solidFill>
                <a:srgbClr val="0000FF"/>
              </a:solidFill>
            </a:endParaRPr>
          </a:p>
          <a:p>
            <a:pPr marL="914400" lvl="1" indent="-342900" algn="l" rtl="0">
              <a:spcBef>
                <a:spcPts val="0"/>
              </a:spcBef>
              <a:spcAft>
                <a:spcPts val="0"/>
              </a:spcAft>
              <a:buClr>
                <a:srgbClr val="0000FF"/>
              </a:buClr>
              <a:buSzPts val="1800"/>
              <a:buChar char="•"/>
            </a:pPr>
            <a:r>
              <a:rPr lang="en-GB">
                <a:solidFill>
                  <a:srgbClr val="0000FF"/>
                </a:solidFill>
              </a:rPr>
              <a:t>The ensemble model gave accuracy of 70%</a:t>
            </a:r>
            <a:endParaRPr>
              <a:solidFill>
                <a:srgbClr val="0000FF"/>
              </a:solidFill>
            </a:endParaRPr>
          </a:p>
          <a:p>
            <a:pPr marL="0" lvl="0" indent="0" algn="l" rtl="0">
              <a:spcBef>
                <a:spcPts val="800"/>
              </a:spcBef>
              <a:spcAft>
                <a:spcPts val="0"/>
              </a:spcAft>
              <a:buNone/>
            </a:pPr>
          </a:p>
          <a:p>
            <a:pPr marL="0" lvl="0" indent="0" algn="l" rtl="0">
              <a:spcBef>
                <a:spcPts val="800"/>
              </a:spcBef>
              <a:spcAft>
                <a:spcPts val="0"/>
              </a:spcAft>
              <a:buNone/>
            </a:pPr>
            <a:r>
              <a:rPr lang="en-GB" sz="2500">
                <a:solidFill>
                  <a:srgbClr val="000000"/>
                </a:solidFill>
              </a:rPr>
              <a:t>So we concluded that DBN outperforms only CNN and ensemble model and gives higher </a:t>
            </a:r>
            <a:r>
              <a:rPr lang="en-GB" sz="2500">
                <a:solidFill>
                  <a:srgbClr val="000000"/>
                </a:solidFill>
              </a:rPr>
              <a:t>accuracy</a:t>
            </a:r>
            <a:endParaRPr sz="25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76" name="Shape 276"/>
        <p:cNvGrpSpPr/>
        <p:nvPr/>
      </p:nvGrpSpPr>
      <p:grpSpPr>
        <a:xfrm>
          <a:off x="0" y="0"/>
          <a:ext cx="0" cy="0"/>
          <a:chOff x="0" y="0"/>
          <a:chExt cx="0" cy="0"/>
        </a:xfrm>
      </p:grpSpPr>
      <p:sp>
        <p:nvSpPr>
          <p:cNvPr id="277" name="Google Shape;277;p40"/>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78" name="Google Shape;278;p40"/>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Design Details </a:t>
            </a:r>
            <a:endParaRPr lang="en-GB" sz="3000" b="1"/>
          </a:p>
        </p:txBody>
      </p:sp>
      <p:sp>
        <p:nvSpPr>
          <p:cNvPr id="279" name="Google Shape;279;p40"/>
          <p:cNvSpPr txBox="1"/>
          <p:nvPr>
            <p:ph type="body" idx="1"/>
          </p:nvPr>
        </p:nvSpPr>
        <p:spPr>
          <a:xfrm>
            <a:off x="112650" y="924900"/>
            <a:ext cx="8918700" cy="4218600"/>
          </a:xfrm>
          <a:prstGeom prst="rect">
            <a:avLst/>
          </a:prstGeom>
          <a:noFill/>
          <a:ln>
            <a:noFill/>
          </a:ln>
        </p:spPr>
        <p:txBody>
          <a:bodyPr spcFirstLastPara="1" wrap="square" lIns="68575" tIns="34275" rIns="68575" bIns="34275" anchor="t" anchorCtr="0">
            <a:noAutofit/>
          </a:bodyPr>
          <a:lstStyle/>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Data Preprocessing : This stage includes cleaning of the dataset that means removing the outliers, removing the noise etc.Next is normalizing and scaling the input data for consistency.</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Cnn for spiral data : This stage includes training the spiral dataset by using the method called capsule neural network and for testing and validation also cnn is used.</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DBN for vocal data : Here we are using DBN model for training the vocal dataset with testing and validation.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Feature Integration : Here we are combining the features of both the datasets.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None/>
            </a:pPr>
            <a:endParaRPr sz="20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None/>
            </a:pPr>
            <a:endParaRPr sz="2000">
              <a:latin typeface="Times New Roman" panose="02020603050405020304"/>
              <a:ea typeface="Times New Roman" panose="02020603050405020304"/>
              <a:cs typeface="Times New Roman" panose="02020603050405020304"/>
              <a:sym typeface="Times New Roman" panose="02020603050405020304"/>
            </a:endParaRPr>
          </a:p>
          <a:p>
            <a:pPr marL="177800" lvl="0" indent="-38100" algn="l" rtl="0">
              <a:lnSpc>
                <a:spcPct val="90000"/>
              </a:lnSpc>
              <a:spcBef>
                <a:spcPts val="800"/>
              </a:spcBef>
              <a:spcAft>
                <a:spcPts val="0"/>
              </a:spcAft>
              <a:buClr>
                <a:schemeClr val="dk1"/>
              </a:buClr>
              <a:buSzPts val="2100"/>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84" name="Shape 284"/>
        <p:cNvGrpSpPr/>
        <p:nvPr/>
      </p:nvGrpSpPr>
      <p:grpSpPr>
        <a:xfrm>
          <a:off x="0" y="0"/>
          <a:ext cx="0" cy="0"/>
          <a:chOff x="0" y="0"/>
          <a:chExt cx="0" cy="0"/>
        </a:xfrm>
      </p:grpSpPr>
      <p:sp>
        <p:nvSpPr>
          <p:cNvPr id="285" name="Google Shape;285;p41"/>
          <p:cNvSpPr txBox="1"/>
          <p:nvPr/>
        </p:nvSpPr>
        <p:spPr>
          <a:xfrm>
            <a:off x="1371600" y="1428750"/>
            <a:ext cx="6743700" cy="31434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86" name="Google Shape;286;p41"/>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Design Details </a:t>
            </a:r>
            <a:endParaRPr lang="en-GB" sz="3000" b="1"/>
          </a:p>
        </p:txBody>
      </p:sp>
      <p:sp>
        <p:nvSpPr>
          <p:cNvPr id="287" name="Google Shape;287;p41"/>
          <p:cNvSpPr txBox="1"/>
          <p:nvPr>
            <p:ph type="body" idx="1"/>
          </p:nvPr>
        </p:nvSpPr>
        <p:spPr>
          <a:xfrm>
            <a:off x="112650" y="924900"/>
            <a:ext cx="8918700" cy="4218600"/>
          </a:xfrm>
          <a:prstGeom prst="rect">
            <a:avLst/>
          </a:prstGeom>
          <a:noFill/>
          <a:ln>
            <a:noFill/>
          </a:ln>
        </p:spPr>
        <p:txBody>
          <a:bodyPr spcFirstLastPara="1" wrap="square" lIns="68575" tIns="34275" rIns="68575" bIns="34275" anchor="t" anchorCtr="0">
            <a:normAutofit/>
          </a:bodyPr>
          <a:lstStyle/>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Applying the ensemble model : In this stage we are applying the ensemble model for the integrated features and getting the result.</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just" rtl="0">
              <a:lnSpc>
                <a:spcPct val="90000"/>
              </a:lnSpc>
              <a:spcBef>
                <a:spcPts val="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Testing and validation : Here we are Reserving a portion of our dataset for testing and validation to ensure the real-world performance of our designed system.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0"/>
              </a:spcBef>
              <a:spcAft>
                <a:spcPts val="0"/>
              </a:spcAft>
              <a:buNone/>
            </a:pPr>
          </a:p>
          <a:p>
            <a:pPr marL="0" lvl="0" indent="0" algn="just" rtl="0">
              <a:lnSpc>
                <a:spcPct val="90000"/>
              </a:lnSpc>
              <a:spcBef>
                <a:spcPts val="0"/>
              </a:spcBef>
              <a:spcAft>
                <a:spcPts val="0"/>
              </a:spcAft>
              <a:buNone/>
            </a:pPr>
          </a:p>
          <a:p>
            <a:pPr marL="177800" lvl="0" indent="-38100" algn="l" rtl="0">
              <a:lnSpc>
                <a:spcPct val="90000"/>
              </a:lnSpc>
              <a:spcBef>
                <a:spcPts val="800"/>
              </a:spcBef>
              <a:spcAft>
                <a:spcPts val="0"/>
              </a:spcAft>
              <a:buClr>
                <a:schemeClr val="dk1"/>
              </a:buClr>
              <a:buSzPts val="2100"/>
              <a:buNone/>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42"/>
          <p:cNvSpPr txBox="1"/>
          <p:nvPr/>
        </p:nvSpPr>
        <p:spPr>
          <a:xfrm>
            <a:off x="1371600" y="1371600"/>
            <a:ext cx="6686700" cy="31590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294" name="Google Shape;294;p42"/>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Design Description</a:t>
            </a:r>
            <a:endParaRPr lang="en-GB" sz="3000" b="1"/>
          </a:p>
        </p:txBody>
      </p:sp>
      <p:sp>
        <p:nvSpPr>
          <p:cNvPr id="295" name="Google Shape;295;p42"/>
          <p:cNvSpPr txBox="1"/>
          <p:nvPr>
            <p:ph type="body" idx="1"/>
          </p:nvPr>
        </p:nvSpPr>
        <p:spPr>
          <a:xfrm>
            <a:off x="241575" y="798650"/>
            <a:ext cx="8718600" cy="43449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0"/>
              </a:spcBef>
              <a:spcAft>
                <a:spcPts val="0"/>
              </a:spcAft>
              <a:buNone/>
            </a:pPr>
            <a:r>
              <a:rPr lang="en-GB" sz="2400">
                <a:solidFill>
                  <a:srgbClr val="0000FF"/>
                </a:solidFill>
                <a:highlight>
                  <a:srgbClr val="FFFFFF"/>
                </a:highlight>
              </a:rPr>
              <a:t>DBN</a:t>
            </a:r>
            <a:r>
              <a:rPr lang="en-GB" sz="2400">
                <a:solidFill>
                  <a:srgbClr val="0000FF"/>
                </a:solidFill>
                <a:highlight>
                  <a:srgbClr val="FFFFFF"/>
                </a:highlight>
              </a:rPr>
              <a:t> ARCHITECTURE:</a:t>
            </a:r>
            <a:endParaRPr sz="2400">
              <a:solidFill>
                <a:srgbClr val="0000FF"/>
              </a:solidFill>
              <a:highlight>
                <a:srgbClr val="FFFFFF"/>
              </a:highlight>
            </a:endParaRPr>
          </a:p>
          <a:p>
            <a:pPr marL="0" lvl="0" indent="0" algn="just" rtl="0">
              <a:lnSpc>
                <a:spcPct val="90000"/>
              </a:lnSpc>
              <a:spcBef>
                <a:spcPts val="0"/>
              </a:spcBef>
              <a:spcAft>
                <a:spcPts val="0"/>
              </a:spcAft>
              <a:buNone/>
            </a:pPr>
            <a:endParaRPr>
              <a:solidFill>
                <a:srgbClr val="0000FF"/>
              </a:solidFill>
              <a:highlight>
                <a:srgbClr val="FFFFFF"/>
              </a:highlight>
            </a:endParaRPr>
          </a:p>
          <a:p>
            <a:pPr marL="508000" lvl="0" indent="-114300" algn="just" rtl="0">
              <a:lnSpc>
                <a:spcPct val="90000"/>
              </a:lnSpc>
              <a:spcBef>
                <a:spcPts val="0"/>
              </a:spcBef>
              <a:spcAft>
                <a:spcPts val="0"/>
              </a:spcAft>
              <a:buClr>
                <a:schemeClr val="dk1"/>
              </a:buClr>
              <a:buSzPts val="2100"/>
              <a:buFont typeface="Noto Sans Symbols"/>
              <a:buNone/>
            </a:pPr>
            <a:endParaRPr>
              <a:solidFill>
                <a:srgbClr val="0033CC"/>
              </a:solidFill>
            </a:endParaRPr>
          </a:p>
          <a:p>
            <a:pPr marL="177800" lvl="0" indent="-38100" algn="l" rtl="0">
              <a:lnSpc>
                <a:spcPct val="90000"/>
              </a:lnSpc>
              <a:spcBef>
                <a:spcPts val="800"/>
              </a:spcBef>
              <a:spcAft>
                <a:spcPts val="0"/>
              </a:spcAft>
              <a:buClr>
                <a:schemeClr val="dk1"/>
              </a:buClr>
              <a:buSzPts val="2100"/>
              <a:buNone/>
            </a:pPr>
            <a:endParaRPr>
              <a:solidFill>
                <a:srgbClr val="0033CC"/>
              </a:solidFill>
            </a:endParaRPr>
          </a:p>
        </p:txBody>
      </p:sp>
      <p:pic>
        <p:nvPicPr>
          <p:cNvPr id="296" name="Google Shape;296;p42"/>
          <p:cNvPicPr preferRelativeResize="0"/>
          <p:nvPr/>
        </p:nvPicPr>
        <p:blipFill>
          <a:blip r:embed="rId1"/>
          <a:stretch>
            <a:fillRect/>
          </a:stretch>
        </p:blipFill>
        <p:spPr>
          <a:xfrm>
            <a:off x="97350" y="1342848"/>
            <a:ext cx="9143999" cy="376670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01" name="Shape 301"/>
        <p:cNvGrpSpPr/>
        <p:nvPr/>
      </p:nvGrpSpPr>
      <p:grpSpPr>
        <a:xfrm>
          <a:off x="0" y="0"/>
          <a:ext cx="0" cy="0"/>
          <a:chOff x="0" y="0"/>
          <a:chExt cx="0" cy="0"/>
        </a:xfrm>
      </p:grpSpPr>
      <p:sp>
        <p:nvSpPr>
          <p:cNvPr id="302" name="Google Shape;302;p43"/>
          <p:cNvSpPr txBox="1"/>
          <p:nvPr/>
        </p:nvSpPr>
        <p:spPr>
          <a:xfrm>
            <a:off x="1371600" y="1371600"/>
            <a:ext cx="6686550" cy="3158948"/>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303" name="Google Shape;303;p43"/>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Design Description</a:t>
            </a:r>
            <a:endParaRPr lang="en-GB" sz="3000" b="1"/>
          </a:p>
        </p:txBody>
      </p:sp>
      <p:sp>
        <p:nvSpPr>
          <p:cNvPr id="304" name="Google Shape;304;p43"/>
          <p:cNvSpPr txBox="1"/>
          <p:nvPr>
            <p:ph type="body" idx="1"/>
          </p:nvPr>
        </p:nvSpPr>
        <p:spPr>
          <a:xfrm>
            <a:off x="241575" y="798650"/>
            <a:ext cx="8718600" cy="43449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0"/>
              </a:spcBef>
              <a:spcAft>
                <a:spcPts val="0"/>
              </a:spcAft>
              <a:buNone/>
            </a:pPr>
            <a:r>
              <a:rPr lang="en-GB" sz="2400">
                <a:solidFill>
                  <a:srgbClr val="0000FF"/>
                </a:solidFill>
                <a:highlight>
                  <a:srgbClr val="FFFFFF"/>
                </a:highlight>
              </a:rPr>
              <a:t>CNN ARCHITECTURE:</a:t>
            </a:r>
            <a:endParaRPr sz="2400">
              <a:solidFill>
                <a:srgbClr val="0000FF"/>
              </a:solidFill>
              <a:highlight>
                <a:srgbClr val="FFFFFF"/>
              </a:highlight>
            </a:endParaRPr>
          </a:p>
          <a:p>
            <a:pPr marL="0" lvl="0" indent="0" algn="just" rtl="0">
              <a:lnSpc>
                <a:spcPct val="90000"/>
              </a:lnSpc>
              <a:spcBef>
                <a:spcPts val="0"/>
              </a:spcBef>
              <a:spcAft>
                <a:spcPts val="0"/>
              </a:spcAft>
              <a:buNone/>
            </a:pPr>
            <a:endParaRPr>
              <a:solidFill>
                <a:srgbClr val="0000FF"/>
              </a:solidFill>
              <a:highlight>
                <a:srgbClr val="FFFFFF"/>
              </a:highlight>
            </a:endParaRPr>
          </a:p>
          <a:p>
            <a:pPr marL="508000" lvl="0" indent="-114300" algn="just" rtl="0">
              <a:lnSpc>
                <a:spcPct val="90000"/>
              </a:lnSpc>
              <a:spcBef>
                <a:spcPts val="0"/>
              </a:spcBef>
              <a:spcAft>
                <a:spcPts val="0"/>
              </a:spcAft>
              <a:buClr>
                <a:schemeClr val="dk1"/>
              </a:buClr>
              <a:buSzPts val="2100"/>
              <a:buFont typeface="Noto Sans Symbols"/>
              <a:buNone/>
            </a:pPr>
            <a:endParaRPr>
              <a:solidFill>
                <a:srgbClr val="0033CC"/>
              </a:solidFill>
            </a:endParaRPr>
          </a:p>
          <a:p>
            <a:pPr marL="177800" lvl="0" indent="-38100" algn="l" rtl="0">
              <a:lnSpc>
                <a:spcPct val="90000"/>
              </a:lnSpc>
              <a:spcBef>
                <a:spcPts val="800"/>
              </a:spcBef>
              <a:spcAft>
                <a:spcPts val="0"/>
              </a:spcAft>
              <a:buClr>
                <a:schemeClr val="dk1"/>
              </a:buClr>
              <a:buSzPts val="2100"/>
              <a:buNone/>
            </a:pPr>
            <a:endParaRPr>
              <a:solidFill>
                <a:srgbClr val="0033CC"/>
              </a:solidFill>
            </a:endParaRPr>
          </a:p>
        </p:txBody>
      </p:sp>
      <p:pic>
        <p:nvPicPr>
          <p:cNvPr id="305" name="Google Shape;305;p43"/>
          <p:cNvPicPr preferRelativeResize="0"/>
          <p:nvPr/>
        </p:nvPicPr>
        <p:blipFill>
          <a:blip r:embed="rId1"/>
          <a:stretch>
            <a:fillRect/>
          </a:stretch>
        </p:blipFill>
        <p:spPr>
          <a:xfrm>
            <a:off x="854525" y="1098075"/>
            <a:ext cx="5877276" cy="1725650"/>
          </a:xfrm>
          <a:prstGeom prst="rect">
            <a:avLst/>
          </a:prstGeom>
          <a:noFill/>
          <a:ln>
            <a:noFill/>
          </a:ln>
        </p:spPr>
      </p:pic>
      <p:pic>
        <p:nvPicPr>
          <p:cNvPr id="306" name="Google Shape;306;p43"/>
          <p:cNvPicPr preferRelativeResize="0"/>
          <p:nvPr/>
        </p:nvPicPr>
        <p:blipFill>
          <a:blip r:embed="rId2"/>
          <a:stretch>
            <a:fillRect/>
          </a:stretch>
        </p:blipFill>
        <p:spPr>
          <a:xfrm>
            <a:off x="1371600" y="2747350"/>
            <a:ext cx="4351229" cy="2396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11" name="Shape 311"/>
        <p:cNvGrpSpPr/>
        <p:nvPr/>
      </p:nvGrpSpPr>
      <p:grpSpPr>
        <a:xfrm>
          <a:off x="0" y="0"/>
          <a:ext cx="0" cy="0"/>
          <a:chOff x="0" y="0"/>
          <a:chExt cx="0" cy="0"/>
        </a:xfrm>
      </p:grpSpPr>
      <p:sp>
        <p:nvSpPr>
          <p:cNvPr id="312" name="Google Shape;312;p44"/>
          <p:cNvSpPr txBox="1"/>
          <p:nvPr/>
        </p:nvSpPr>
        <p:spPr>
          <a:xfrm>
            <a:off x="1371600" y="1371600"/>
            <a:ext cx="6686700" cy="31590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313" name="Google Shape;313;p44"/>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Design Description</a:t>
            </a:r>
            <a:endParaRPr lang="en-GB" sz="3000" b="1"/>
          </a:p>
        </p:txBody>
      </p:sp>
      <p:sp>
        <p:nvSpPr>
          <p:cNvPr id="314" name="Google Shape;314;p44"/>
          <p:cNvSpPr txBox="1"/>
          <p:nvPr>
            <p:ph type="body" idx="1"/>
          </p:nvPr>
        </p:nvSpPr>
        <p:spPr>
          <a:xfrm>
            <a:off x="212700" y="1009025"/>
            <a:ext cx="8718600" cy="4344900"/>
          </a:xfrm>
          <a:prstGeom prst="rect">
            <a:avLst/>
          </a:prstGeom>
          <a:noFill/>
          <a:ln>
            <a:noFill/>
          </a:ln>
        </p:spPr>
        <p:txBody>
          <a:bodyPr spcFirstLastPara="1" wrap="square" lIns="68575" tIns="34275" rIns="68575" bIns="34275" anchor="t" anchorCtr="0">
            <a:noAutofit/>
          </a:bodyPr>
          <a:lstStyle/>
          <a:p>
            <a:pPr marL="0" lvl="0" indent="0" algn="just" rtl="0">
              <a:lnSpc>
                <a:spcPct val="70000"/>
              </a:lnSpc>
              <a:spcBef>
                <a:spcPts val="0"/>
              </a:spcBef>
              <a:spcAft>
                <a:spcPts val="0"/>
              </a:spcAft>
              <a:buSzPts val="1018"/>
              <a:buNone/>
            </a:pPr>
            <a:r>
              <a:rPr lang="en-GB"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CNN ARCHITECTURE:</a:t>
            </a: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70000"/>
              </a:lnSpc>
              <a:spcBef>
                <a:spcPts val="0"/>
              </a:spcBef>
              <a:spcAft>
                <a:spcPts val="0"/>
              </a:spcAft>
              <a:buClr>
                <a:srgbClr val="0000FF"/>
              </a:buClr>
              <a:buSzPts val="2000"/>
              <a:buFont typeface="Times New Roman" panose="02020603050405020304"/>
              <a:buChar char="•"/>
            </a:pPr>
            <a:r>
              <a:rPr lang="en-GB"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network begins with an input layer that takes an image as input, similar to Convolutional Neural Networks (CNNs).</a:t>
            </a: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70000"/>
              </a:lnSpc>
              <a:spcBef>
                <a:spcPts val="0"/>
              </a:spcBef>
              <a:spcAft>
                <a:spcPts val="0"/>
              </a:spcAft>
              <a:buNone/>
            </a:pP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70000"/>
              </a:lnSpc>
              <a:spcBef>
                <a:spcPts val="0"/>
              </a:spcBef>
              <a:spcAft>
                <a:spcPts val="0"/>
              </a:spcAft>
              <a:buClr>
                <a:srgbClr val="0000FF"/>
              </a:buClr>
              <a:buSzPts val="2000"/>
              <a:buFont typeface="Times New Roman" panose="02020603050405020304"/>
              <a:buChar char="•"/>
            </a:pPr>
            <a:r>
              <a:rPr lang="en-GB"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Instead of traditional max-pooling layers, CapsuleNets utilize Primary Capsules to represent low-level features and capture spatial relationships within local image regions.</a:t>
            </a: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70000"/>
              </a:lnSpc>
              <a:spcBef>
                <a:spcPts val="0"/>
              </a:spcBef>
              <a:spcAft>
                <a:spcPts val="0"/>
              </a:spcAft>
              <a:buNone/>
            </a:pP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70000"/>
              </a:lnSpc>
              <a:spcBef>
                <a:spcPts val="0"/>
              </a:spcBef>
              <a:spcAft>
                <a:spcPts val="0"/>
              </a:spcAft>
              <a:buClr>
                <a:srgbClr val="0000FF"/>
              </a:buClr>
              <a:buSzPts val="2000"/>
              <a:buFont typeface="Times New Roman" panose="02020603050405020304"/>
              <a:buChar char="•"/>
            </a:pPr>
            <a:r>
              <a:rPr lang="en-GB"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core of the architecture, this layer comprises capsules, each responsible for recognizing specific entities or features in the image.</a:t>
            </a: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70000"/>
              </a:lnSpc>
              <a:spcBef>
                <a:spcPts val="0"/>
              </a:spcBef>
              <a:spcAft>
                <a:spcPts val="0"/>
              </a:spcAft>
              <a:buNone/>
            </a:pP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70000"/>
              </a:lnSpc>
              <a:spcBef>
                <a:spcPts val="0"/>
              </a:spcBef>
              <a:spcAft>
                <a:spcPts val="0"/>
              </a:spcAft>
              <a:buClr>
                <a:srgbClr val="0000FF"/>
              </a:buClr>
              <a:buSzPts val="2000"/>
              <a:buFont typeface="Times New Roman" panose="02020603050405020304"/>
              <a:buChar char="•"/>
            </a:pPr>
            <a:r>
              <a:rPr lang="en-GB"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Capsule layers employ a dynamic routing algorithm that facilitates communication between capsules. This mechanism enables capsules to reach consensus on predictions while accommodating pose variations.</a:t>
            </a: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508000" lvl="0" indent="-114300" algn="just" rtl="0">
              <a:lnSpc>
                <a:spcPct val="70000"/>
              </a:lnSpc>
              <a:spcBef>
                <a:spcPts val="0"/>
              </a:spcBef>
              <a:spcAft>
                <a:spcPts val="0"/>
              </a:spcAft>
              <a:buClr>
                <a:schemeClr val="dk1"/>
              </a:buClr>
              <a:buSzPts val="1942"/>
              <a:buFont typeface="Noto Sans Symbols"/>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a:p>
            <a:pPr marL="177800" lvl="0" indent="-38100" algn="l" rtl="0">
              <a:lnSpc>
                <a:spcPct val="70000"/>
              </a:lnSpc>
              <a:spcBef>
                <a:spcPts val="800"/>
              </a:spcBef>
              <a:spcAft>
                <a:spcPts val="0"/>
              </a:spcAft>
              <a:buClr>
                <a:schemeClr val="dk1"/>
              </a:buClr>
              <a:buSzPts val="1942"/>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19" name="Shape 319"/>
        <p:cNvGrpSpPr/>
        <p:nvPr/>
      </p:nvGrpSpPr>
      <p:grpSpPr>
        <a:xfrm>
          <a:off x="0" y="0"/>
          <a:ext cx="0" cy="0"/>
          <a:chOff x="0" y="0"/>
          <a:chExt cx="0" cy="0"/>
        </a:xfrm>
      </p:grpSpPr>
      <p:sp>
        <p:nvSpPr>
          <p:cNvPr id="320" name="Google Shape;320;p45"/>
          <p:cNvSpPr txBox="1"/>
          <p:nvPr/>
        </p:nvSpPr>
        <p:spPr>
          <a:xfrm>
            <a:off x="1371600" y="1371600"/>
            <a:ext cx="6686700" cy="31590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321" name="Google Shape;321;p45"/>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Design Description</a:t>
            </a:r>
            <a:endParaRPr lang="en-GB" sz="3000" b="1"/>
          </a:p>
        </p:txBody>
      </p:sp>
      <p:sp>
        <p:nvSpPr>
          <p:cNvPr id="322" name="Google Shape;322;p45"/>
          <p:cNvSpPr txBox="1"/>
          <p:nvPr>
            <p:ph type="body" idx="1"/>
          </p:nvPr>
        </p:nvSpPr>
        <p:spPr>
          <a:xfrm>
            <a:off x="160100" y="1031075"/>
            <a:ext cx="8718600" cy="4344900"/>
          </a:xfrm>
          <a:prstGeom prst="rect">
            <a:avLst/>
          </a:prstGeom>
          <a:noFill/>
          <a:ln>
            <a:noFill/>
          </a:ln>
        </p:spPr>
        <p:txBody>
          <a:bodyPr spcFirstLastPara="1" wrap="square" lIns="68575" tIns="34275" rIns="68575" bIns="34275" anchor="t" anchorCtr="0">
            <a:noAutofit/>
          </a:bodyPr>
          <a:lstStyle/>
          <a:p>
            <a:pPr marL="0" lvl="0" indent="0" algn="just" rtl="0">
              <a:lnSpc>
                <a:spcPct val="70000"/>
              </a:lnSpc>
              <a:spcBef>
                <a:spcPts val="0"/>
              </a:spcBef>
              <a:spcAft>
                <a:spcPts val="0"/>
              </a:spcAft>
              <a:buSzPts val="1018"/>
              <a:buNone/>
            </a:pPr>
            <a:r>
              <a:rPr lang="en-GB"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DB</a:t>
            </a:r>
            <a:r>
              <a:rPr lang="en-GB"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N ARCHITECTURE:</a:t>
            </a: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8140" algn="just" rtl="0">
              <a:lnSpc>
                <a:spcPct val="70000"/>
              </a:lnSpc>
              <a:spcBef>
                <a:spcPts val="0"/>
              </a:spcBef>
              <a:spcAft>
                <a:spcPts val="0"/>
              </a:spcAft>
              <a:buClr>
                <a:srgbClr val="0000FF"/>
              </a:buClr>
              <a:buSzPts val="2042"/>
              <a:buFont typeface="Times New Roman" panose="02020603050405020304"/>
              <a:buChar char="•"/>
            </a:pPr>
            <a:r>
              <a:rPr lang="en-GB"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It is a type of artificial neural network architecture that is composed of multiple layers of Restricted Boltzmann Machines.</a:t>
            </a:r>
            <a:endParaRPr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70000"/>
              </a:lnSpc>
              <a:spcBef>
                <a:spcPts val="0"/>
              </a:spcBef>
              <a:spcAft>
                <a:spcPts val="0"/>
              </a:spcAft>
              <a:buNone/>
            </a:pPr>
            <a:endParaRPr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8140" algn="just" rtl="0">
              <a:lnSpc>
                <a:spcPct val="70000"/>
              </a:lnSpc>
              <a:spcBef>
                <a:spcPts val="0"/>
              </a:spcBef>
              <a:spcAft>
                <a:spcPts val="0"/>
              </a:spcAft>
              <a:buClr>
                <a:srgbClr val="0000FF"/>
              </a:buClr>
              <a:buSzPts val="2042"/>
              <a:buFont typeface="Times New Roman" panose="02020603050405020304"/>
              <a:buChar char="•"/>
            </a:pPr>
            <a:r>
              <a:rPr lang="en-GB"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Each RBM layer comprises two types of nodes: visible units and hidden units.</a:t>
            </a:r>
            <a:endParaRPr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lnSpc>
                <a:spcPct val="70000"/>
              </a:lnSpc>
              <a:spcBef>
                <a:spcPts val="0"/>
              </a:spcBef>
              <a:spcAft>
                <a:spcPts val="0"/>
              </a:spcAft>
              <a:buNone/>
            </a:pPr>
            <a:endParaRPr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58140" algn="just" rtl="0">
              <a:lnSpc>
                <a:spcPct val="70000"/>
              </a:lnSpc>
              <a:spcBef>
                <a:spcPts val="0"/>
              </a:spcBef>
              <a:spcAft>
                <a:spcPts val="0"/>
              </a:spcAft>
              <a:buClr>
                <a:srgbClr val="0000FF"/>
              </a:buClr>
              <a:buSzPts val="2042"/>
              <a:buFont typeface="Times New Roman" panose="02020603050405020304"/>
              <a:buChar char="•"/>
            </a:pPr>
            <a:r>
              <a:rPr lang="en-GB"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output of one trained RBM is then used as the input for the subsequent RBM.</a:t>
            </a:r>
            <a:endParaRPr sz="20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Clr>
                <a:schemeClr val="dk1"/>
              </a:buClr>
              <a:buSzPts val="1100"/>
              <a:buFont typeface="Arial" panose="020B0604020202020204"/>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Clr>
                <a:schemeClr val="dk1"/>
              </a:buClr>
              <a:buSzPts val="1018"/>
              <a:buFont typeface="Arial" panose="020B0604020202020204"/>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Clr>
                <a:schemeClr val="dk1"/>
              </a:buClr>
              <a:buSzPts val="1018"/>
              <a:buFont typeface="Arial" panose="020B0604020202020204"/>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508000" lvl="0" indent="-114300" algn="just" rtl="0">
              <a:lnSpc>
                <a:spcPct val="70000"/>
              </a:lnSpc>
              <a:spcBef>
                <a:spcPts val="0"/>
              </a:spcBef>
              <a:spcAft>
                <a:spcPts val="0"/>
              </a:spcAft>
              <a:buClr>
                <a:schemeClr val="dk1"/>
              </a:buClr>
              <a:buSzPts val="1942"/>
              <a:buFont typeface="Noto Sans Symbols"/>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a:p>
            <a:pPr marL="177800" lvl="0" indent="-38100" algn="l" rtl="0">
              <a:lnSpc>
                <a:spcPct val="70000"/>
              </a:lnSpc>
              <a:spcBef>
                <a:spcPts val="800"/>
              </a:spcBef>
              <a:spcAft>
                <a:spcPts val="0"/>
              </a:spcAft>
              <a:buClr>
                <a:schemeClr val="dk1"/>
              </a:buClr>
              <a:buSzPts val="1942"/>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27" name="Shape 327"/>
        <p:cNvGrpSpPr/>
        <p:nvPr/>
      </p:nvGrpSpPr>
      <p:grpSpPr>
        <a:xfrm>
          <a:off x="0" y="0"/>
          <a:ext cx="0" cy="0"/>
          <a:chOff x="0" y="0"/>
          <a:chExt cx="0" cy="0"/>
        </a:xfrm>
      </p:grpSpPr>
      <p:sp>
        <p:nvSpPr>
          <p:cNvPr id="328" name="Google Shape;328;p46"/>
          <p:cNvSpPr txBox="1"/>
          <p:nvPr/>
        </p:nvSpPr>
        <p:spPr>
          <a:xfrm>
            <a:off x="1371600" y="1371600"/>
            <a:ext cx="6686700" cy="31590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329" name="Google Shape;329;p46"/>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Benefits of Proposed Methodology</a:t>
            </a:r>
            <a:endParaRPr lang="en-GB" sz="3000" b="1"/>
          </a:p>
        </p:txBody>
      </p:sp>
      <p:sp>
        <p:nvSpPr>
          <p:cNvPr id="330" name="Google Shape;330;p46"/>
          <p:cNvSpPr txBox="1"/>
          <p:nvPr>
            <p:ph type="body" idx="1"/>
          </p:nvPr>
        </p:nvSpPr>
        <p:spPr>
          <a:xfrm>
            <a:off x="212700" y="903850"/>
            <a:ext cx="8718600" cy="4344900"/>
          </a:xfrm>
          <a:prstGeom prst="rect">
            <a:avLst/>
          </a:prstGeom>
          <a:noFill/>
          <a:ln>
            <a:noFill/>
          </a:ln>
        </p:spPr>
        <p:txBody>
          <a:bodyPr spcFirstLastPara="1" wrap="square" lIns="68575" tIns="34275" rIns="68575" bIns="34275" anchor="t" anchorCtr="0">
            <a:noAutofit/>
          </a:bodyPr>
          <a:lstStyle/>
          <a:p>
            <a:pPr marL="457200" lvl="0" indent="-355600" algn="l" rtl="0">
              <a:lnSpc>
                <a:spcPct val="115000"/>
              </a:lnSpc>
              <a:spcBef>
                <a:spcPts val="15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Comprehensive Information Utilization: The use of both spiral and vocal data provides a holistic view of the patient's condition, potentially capturing diverse aspects of Parkinson's disease.</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15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15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Potential for Improved Accuracy: Bimodal fusion has the potential to enhance the overall accuracy of the model by combining the strengths of each modality.</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15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15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Interpretability Measures: Incorporating interpretability measures ensures transparency in the decision-making process, vital for gaining acceptance in medical settings.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1500"/>
              </a:spcBef>
              <a:spcAft>
                <a:spcPts val="0"/>
              </a:spcAft>
              <a:buSzPts val="1018"/>
              <a:buNone/>
            </a:pP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00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508000" lvl="0" indent="-114300" algn="just" rtl="0">
              <a:lnSpc>
                <a:spcPct val="70000"/>
              </a:lnSpc>
              <a:spcBef>
                <a:spcPts val="0"/>
              </a:spcBef>
              <a:spcAft>
                <a:spcPts val="0"/>
              </a:spcAft>
              <a:buClr>
                <a:schemeClr val="dk1"/>
              </a:buClr>
              <a:buSzPts val="1942"/>
              <a:buFont typeface="Noto Sans Symbols"/>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a:p>
            <a:pPr marL="177800" lvl="0" indent="-38100" algn="l" rtl="0">
              <a:lnSpc>
                <a:spcPct val="70000"/>
              </a:lnSpc>
              <a:spcBef>
                <a:spcPts val="800"/>
              </a:spcBef>
              <a:spcAft>
                <a:spcPts val="0"/>
              </a:spcAft>
              <a:buClr>
                <a:schemeClr val="dk1"/>
              </a:buClr>
              <a:buSzPts val="1942"/>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47"/>
          <p:cNvSpPr txBox="1"/>
          <p:nvPr/>
        </p:nvSpPr>
        <p:spPr>
          <a:xfrm>
            <a:off x="1371600" y="1371600"/>
            <a:ext cx="6686700" cy="3159000"/>
          </a:xfrm>
          <a:prstGeom prst="rect">
            <a:avLst/>
          </a:prstGeom>
          <a:noFill/>
          <a:ln>
            <a:noFill/>
          </a:ln>
        </p:spPr>
        <p:txBody>
          <a:bodyPr spcFirstLastPara="1" wrap="square" lIns="68575" tIns="34275" rIns="68575" bIns="34275" anchor="t" anchorCtr="0">
            <a:noAutofit/>
          </a:bodyPr>
          <a:lstStyle/>
          <a:p>
            <a:pPr marL="508000" marR="0" lvl="0" indent="-139700" algn="just" rtl="0">
              <a:spcBef>
                <a:spcPts val="0"/>
              </a:spcBef>
              <a:spcAft>
                <a:spcPts val="0"/>
              </a:spcAft>
              <a:buClr>
                <a:schemeClr val="dk1"/>
              </a:buClr>
              <a:buSzPts val="1800"/>
              <a:buFont typeface="Noto Sans Symbols"/>
              <a:buNone/>
            </a:pPr>
            <a:endParaRPr sz="180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sp>
        <p:nvSpPr>
          <p:cNvPr id="337" name="Google Shape;337;p47"/>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Drawbacks</a:t>
            </a:r>
            <a:r>
              <a:rPr lang="en-GB" sz="3000" b="1"/>
              <a:t> of Proposed Methodology</a:t>
            </a:r>
            <a:endParaRPr lang="en-GB" sz="3000" b="1"/>
          </a:p>
        </p:txBody>
      </p:sp>
      <p:sp>
        <p:nvSpPr>
          <p:cNvPr id="338" name="Google Shape;338;p47"/>
          <p:cNvSpPr txBox="1"/>
          <p:nvPr>
            <p:ph type="body" idx="1"/>
          </p:nvPr>
        </p:nvSpPr>
        <p:spPr>
          <a:xfrm>
            <a:off x="0" y="891750"/>
            <a:ext cx="9144000" cy="4514700"/>
          </a:xfrm>
          <a:prstGeom prst="rect">
            <a:avLst/>
          </a:prstGeom>
          <a:noFill/>
          <a:ln>
            <a:noFill/>
          </a:ln>
        </p:spPr>
        <p:txBody>
          <a:bodyPr spcFirstLastPara="1" wrap="square" lIns="68575" tIns="34275" rIns="68575" bIns="34275" anchor="t" anchorCtr="0">
            <a:noAutofit/>
          </a:bodyPr>
          <a:lstStyle/>
          <a:p>
            <a:pPr marL="457200" lvl="0" indent="-355600" algn="l" rtl="0">
              <a:lnSpc>
                <a:spcPct val="115000"/>
              </a:lnSpc>
              <a:spcBef>
                <a:spcPts val="15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Integration Challenges: Determining the optimal way to integrate features from different modalities is non-trivial and may require extensive experimentation</a:t>
            </a: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Computational Intensity: Training capsule networks and deep belief networks can be computationally intensive, requiring access to powerful hardware resources.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Risk of Overfitting: Given the complexity of the models and the potential high dimensionality of the feature space, there's a risk of overfitting, especially if regularization techniques are not carefully applied.</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Ethical and Privacy Concerns: Dealing with health-related data necessitates careful consideration of ethical and privacy concerns, requiring robust measures to protect patient information.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1500"/>
              </a:spcBef>
              <a:spcAft>
                <a:spcPts val="0"/>
              </a:spcAft>
              <a:buNone/>
            </a:pPr>
            <a:endParaRPr sz="175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150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70000"/>
              </a:lnSpc>
              <a:spcBef>
                <a:spcPts val="0"/>
              </a:spcBef>
              <a:spcAft>
                <a:spcPts val="0"/>
              </a:spcAft>
              <a:buSzPts val="1018"/>
              <a:buNone/>
            </a:pPr>
            <a:endParaRPr sz="2440">
              <a:solidFill>
                <a:srgbClr val="0000F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508000" lvl="0" indent="-114300" algn="just" rtl="0">
              <a:lnSpc>
                <a:spcPct val="70000"/>
              </a:lnSpc>
              <a:spcBef>
                <a:spcPts val="0"/>
              </a:spcBef>
              <a:spcAft>
                <a:spcPts val="0"/>
              </a:spcAft>
              <a:buClr>
                <a:schemeClr val="dk1"/>
              </a:buClr>
              <a:buSzPts val="1942"/>
              <a:buFont typeface="Noto Sans Symbols"/>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a:p>
            <a:pPr marL="177800" lvl="0" indent="-38100" algn="l" rtl="0">
              <a:lnSpc>
                <a:spcPct val="70000"/>
              </a:lnSpc>
              <a:spcBef>
                <a:spcPts val="800"/>
              </a:spcBef>
              <a:spcAft>
                <a:spcPts val="0"/>
              </a:spcAft>
              <a:buClr>
                <a:schemeClr val="dk1"/>
              </a:buClr>
              <a:buSzPts val="1942"/>
              <a:buNone/>
            </a:pPr>
            <a:endParaRPr sz="2440">
              <a:solidFill>
                <a:srgbClr val="0033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43" name="Shape 343"/>
        <p:cNvGrpSpPr/>
        <p:nvPr/>
      </p:nvGrpSpPr>
      <p:grpSpPr>
        <a:xfrm>
          <a:off x="0" y="0"/>
          <a:ext cx="0" cy="0"/>
          <a:chOff x="0" y="0"/>
          <a:chExt cx="0" cy="0"/>
        </a:xfrm>
      </p:grpSpPr>
      <p:sp>
        <p:nvSpPr>
          <p:cNvPr id="344" name="Google Shape;344;p48"/>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Algorithm of DBN</a:t>
            </a:r>
            <a:endParaRPr lang="en-GB" sz="3000" b="1"/>
          </a:p>
        </p:txBody>
      </p:sp>
      <p:sp>
        <p:nvSpPr>
          <p:cNvPr id="345" name="Google Shape;345;p48"/>
          <p:cNvSpPr txBox="1"/>
          <p:nvPr>
            <p:ph type="body" idx="1"/>
          </p:nvPr>
        </p:nvSpPr>
        <p:spPr>
          <a:xfrm>
            <a:off x="0" y="856650"/>
            <a:ext cx="9063600" cy="4287000"/>
          </a:xfrm>
          <a:prstGeom prst="rect">
            <a:avLst/>
          </a:prstGeom>
          <a:noFill/>
          <a:ln>
            <a:noFill/>
          </a:ln>
        </p:spPr>
        <p:txBody>
          <a:bodyPr spcFirstLastPara="1" wrap="square" lIns="68575" tIns="34275" rIns="68575" bIns="34275" anchor="t" anchorCtr="0">
            <a:normAutofit lnSpcReduction="10000"/>
          </a:bodyPr>
          <a:lstStyle/>
          <a:p>
            <a:pPr marL="457200" lvl="0" indent="-355600" algn="l" rtl="0">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the raw data , we have applied the wrapper method for extracting the the useful features that are required for our research.</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From that we extracted 10 main features for the analysis.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Next we used DBN model for the training . There we used RBM layers for the deep analysis of the features.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From that we saved the model for next validation and testing.</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sz="205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a:solidFill>
                <a:srgbClr val="0000FF"/>
              </a:solidFill>
            </a:endParaRPr>
          </a:p>
          <a:p>
            <a:pPr marL="0" lvl="0" indent="0" algn="l" rtl="0">
              <a:spcBef>
                <a:spcPts val="800"/>
              </a:spcBef>
              <a:spcAft>
                <a:spcPts val="0"/>
              </a:spcAft>
              <a:buNone/>
            </a:p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50" name="Shape 350"/>
        <p:cNvGrpSpPr/>
        <p:nvPr/>
      </p:nvGrpSpPr>
      <p:grpSpPr>
        <a:xfrm>
          <a:off x="0" y="0"/>
          <a:ext cx="0" cy="0"/>
          <a:chOff x="0" y="0"/>
          <a:chExt cx="0" cy="0"/>
        </a:xfrm>
      </p:grpSpPr>
      <p:sp>
        <p:nvSpPr>
          <p:cNvPr id="351" name="Google Shape;351;p49"/>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Algorithm of DBN</a:t>
            </a:r>
            <a:endParaRPr lang="en-GB" sz="3000" b="1"/>
          </a:p>
        </p:txBody>
      </p:sp>
      <p:sp>
        <p:nvSpPr>
          <p:cNvPr id="352" name="Google Shape;352;p49"/>
          <p:cNvSpPr txBox="1"/>
          <p:nvPr>
            <p:ph type="body" idx="1"/>
          </p:nvPr>
        </p:nvSpPr>
        <p:spPr>
          <a:xfrm>
            <a:off x="0" y="856650"/>
            <a:ext cx="9063600" cy="4287000"/>
          </a:xfrm>
          <a:prstGeom prst="rect">
            <a:avLst/>
          </a:prstGeom>
          <a:noFill/>
          <a:ln>
            <a:noFill/>
          </a:ln>
        </p:spPr>
        <p:txBody>
          <a:bodyPr spcFirstLastPara="1" wrap="square" lIns="68575" tIns="34275" rIns="68575" bIns="34275" anchor="t" anchorCtr="0">
            <a:normAutofit/>
          </a:bodyPr>
          <a:lstStyle/>
          <a:p>
            <a:pPr marL="457200" lvl="0" indent="0" algn="l" rtl="0">
              <a:spcBef>
                <a:spcPts val="800"/>
              </a:spcBef>
              <a:spcAft>
                <a:spcPts val="0"/>
              </a:spcAft>
              <a:buNone/>
            </a:pPr>
            <a:endParaRPr sz="4200">
              <a:solidFill>
                <a:srgbClr val="0000FF"/>
              </a:solidFill>
            </a:endParaRPr>
          </a:p>
          <a:p>
            <a:pPr marL="457200" lvl="0" indent="0" algn="l" rtl="0">
              <a:spcBef>
                <a:spcPts val="800"/>
              </a:spcBef>
              <a:spcAft>
                <a:spcPts val="0"/>
              </a:spcAft>
              <a:buNone/>
            </a:pPr>
            <a:endParaRPr sz="4200">
              <a:solidFill>
                <a:srgbClr val="0000FF"/>
              </a:solidFill>
            </a:endParaRPr>
          </a:p>
          <a:p>
            <a:pPr marL="457200" lvl="0" indent="-355600" algn="l" rtl="0">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We validated the data with the saved model and got pretty good accuracy.</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Next process is the testing process, there we tested across the dataset with the saved model.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Clr>
                <a:schemeClr val="dk1"/>
              </a:buClr>
              <a:buSzPts val="1100"/>
              <a:buFont typeface="Arial" panose="020B0604020202020204"/>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800"/>
              </a:spcBef>
              <a:spcAft>
                <a:spcPts val="0"/>
              </a:spcAft>
              <a:buNone/>
            </a:pPr>
            <a:endParaRPr>
              <a:solidFill>
                <a:srgbClr val="0000FF"/>
              </a:solidFill>
            </a:endParaRPr>
          </a:p>
          <a:p>
            <a:pPr marL="0" lvl="0" indent="0" algn="l" rtl="0">
              <a:spcBef>
                <a:spcPts val="800"/>
              </a:spcBef>
              <a:spcAft>
                <a:spcPts val="0"/>
              </a:spcAft>
              <a:buNone/>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57" name="Shape 357"/>
        <p:cNvGrpSpPr/>
        <p:nvPr/>
      </p:nvGrpSpPr>
      <p:grpSpPr>
        <a:xfrm>
          <a:off x="0" y="0"/>
          <a:ext cx="0" cy="0"/>
          <a:chOff x="0" y="0"/>
          <a:chExt cx="0" cy="0"/>
        </a:xfrm>
      </p:grpSpPr>
      <p:sp>
        <p:nvSpPr>
          <p:cNvPr id="358" name="Google Shape;358;p50"/>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Pseudocode of DBN</a:t>
            </a:r>
            <a:endParaRPr lang="en-GB" sz="3000" b="1"/>
          </a:p>
        </p:txBody>
      </p:sp>
      <p:sp>
        <p:nvSpPr>
          <p:cNvPr id="359" name="Google Shape;359;p50"/>
          <p:cNvSpPr txBox="1"/>
          <p:nvPr>
            <p:ph type="body" idx="1"/>
          </p:nvPr>
        </p:nvSpPr>
        <p:spPr>
          <a:xfrm>
            <a:off x="275950" y="768750"/>
            <a:ext cx="9063600" cy="45150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1 :</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Initialize DBN</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Initialize dbn layers()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2: </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Pre-training of RBM layers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each rbm_layer in dbn_layers[:-1]:</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Initialize rbm(rbm_layers)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train_rbm(rbm_layers,training_data)</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400">
              <a:solidFill>
                <a:srgbClr val="0000FF"/>
              </a:solidFill>
            </a:endParaRPr>
          </a:p>
          <a:p>
            <a:pPr marL="0" lvl="0" indent="0" algn="l" rtl="0">
              <a:spcBef>
                <a:spcPts val="800"/>
              </a:spcBef>
              <a:spcAft>
                <a:spcPts val="0"/>
              </a:spcAft>
              <a:buNone/>
            </a:pPr>
            <a:endParaRPr sz="8400">
              <a:solidFill>
                <a:srgbClr val="0000FF"/>
              </a:solidFill>
            </a:endParaRPr>
          </a:p>
          <a:p>
            <a:pPr marL="0" lvl="0" indent="0" algn="l" rtl="0">
              <a:spcBef>
                <a:spcPts val="800"/>
              </a:spcBef>
              <a:spcAft>
                <a:spcPts val="0"/>
              </a:spcAft>
              <a:buNone/>
            </a:pPr>
            <a:endParaRPr>
              <a:solidFill>
                <a:srgbClr val="0000FF"/>
              </a:solidFill>
            </a:endParaRPr>
          </a:p>
          <a:p>
            <a:pPr marL="0" lvl="0" indent="0" algn="l" rtl="0">
              <a:spcBef>
                <a:spcPts val="800"/>
              </a:spcBef>
              <a:spcAft>
                <a:spcPts val="0"/>
              </a:spcAft>
              <a:buNone/>
            </a:pPr>
            <a:endParaRPr>
              <a:solidFill>
                <a:srgbClr val="0000FF"/>
              </a:solidFill>
            </a:endParaRPr>
          </a:p>
          <a:p>
            <a:pPr marL="0" lvl="0" indent="0" algn="l" rtl="0">
              <a:spcBef>
                <a:spcPts val="800"/>
              </a:spcBef>
              <a:spcAft>
                <a:spcPts val="0"/>
              </a:spcAft>
              <a:buNone/>
            </a:pPr>
            <a:endParaRPr>
              <a:solidFill>
                <a:srgbClr val="0000FF"/>
              </a:solidFill>
            </a:endParaRPr>
          </a:p>
          <a:p>
            <a:pPr marL="457200" lvl="0" indent="0" algn="l" rtl="0">
              <a:spcBef>
                <a:spcPts val="800"/>
              </a:spcBef>
              <a:spcAft>
                <a:spcPts val="0"/>
              </a:spcAft>
              <a:buNone/>
            </a:pPr>
            <a:endParaRPr>
              <a:solidFill>
                <a:srgbClr val="0000FF"/>
              </a:solidFill>
            </a:endParaRPr>
          </a:p>
          <a:p>
            <a:pPr marL="0" lvl="0" indent="0" algn="l" rtl="0">
              <a:spcBef>
                <a:spcPts val="800"/>
              </a:spcBef>
              <a:spcAft>
                <a:spcPts val="0"/>
              </a:spcAft>
              <a:buNone/>
            </a:p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51"/>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Pseudocode of DBN</a:t>
            </a:r>
            <a:endParaRPr lang="en-GB" sz="3000" b="1"/>
          </a:p>
        </p:txBody>
      </p:sp>
      <p:sp>
        <p:nvSpPr>
          <p:cNvPr id="366" name="Google Shape;366;p51"/>
          <p:cNvSpPr txBox="1"/>
          <p:nvPr>
            <p:ph type="body" idx="1"/>
          </p:nvPr>
        </p:nvSpPr>
        <p:spPr>
          <a:xfrm>
            <a:off x="40200" y="784775"/>
            <a:ext cx="9063600" cy="4359000"/>
          </a:xfrm>
          <a:prstGeom prst="rect">
            <a:avLst/>
          </a:prstGeom>
          <a:noFill/>
          <a:ln>
            <a:noFill/>
          </a:ln>
        </p:spPr>
        <p:txBody>
          <a:bodyPr spcFirstLastPara="1" wrap="square" lIns="68575" tIns="34275" rIns="68575" bIns="34275" anchor="t" anchorCtr="0">
            <a:normAutofit/>
          </a:bodyPr>
          <a:lstStyle/>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3 :	Fine tuning the entire DBN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Initialize  fine_tuning_parameters()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each epoch in fine_tuning_epochs: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each training_example in training_data:</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forward_pass(training_example)</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backward_pass(training_example)</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update(parameters)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4 : 	Make predictions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for each test_example in test_data:</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			predict = predict(test_example)</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80000"/>
              </a:lnSpc>
              <a:spcBef>
                <a:spcPts val="800"/>
              </a:spcBef>
              <a:spcAft>
                <a:spcPts val="0"/>
              </a:spcAft>
              <a:buClr>
                <a:schemeClr val="dk1"/>
              </a:buClr>
              <a:buSzPts val="1100"/>
              <a:buFont typeface="Arial" panose="020B0604020202020204"/>
              <a:buNone/>
            </a:pPr>
            <a:endParaRPr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71" name="Shape 371"/>
        <p:cNvGrpSpPr/>
        <p:nvPr/>
      </p:nvGrpSpPr>
      <p:grpSpPr>
        <a:xfrm>
          <a:off x="0" y="0"/>
          <a:ext cx="0" cy="0"/>
          <a:chOff x="0" y="0"/>
          <a:chExt cx="0" cy="0"/>
        </a:xfrm>
      </p:grpSpPr>
      <p:sp>
        <p:nvSpPr>
          <p:cNvPr id="372" name="Google Shape;372;p52"/>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Algorithm of CNN</a:t>
            </a:r>
            <a:endParaRPr lang="en-GB" sz="3000" b="1"/>
          </a:p>
        </p:txBody>
      </p:sp>
      <p:sp>
        <p:nvSpPr>
          <p:cNvPr id="373" name="Google Shape;373;p52"/>
          <p:cNvSpPr txBox="1"/>
          <p:nvPr>
            <p:ph type="body" idx="1"/>
          </p:nvPr>
        </p:nvSpPr>
        <p:spPr>
          <a:xfrm>
            <a:off x="0" y="856650"/>
            <a:ext cx="9063600" cy="4287000"/>
          </a:xfrm>
          <a:prstGeom prst="rect">
            <a:avLst/>
          </a:prstGeom>
          <a:noFill/>
          <a:ln>
            <a:noFill/>
          </a:ln>
        </p:spPr>
        <p:txBody>
          <a:bodyPr spcFirstLastPara="1" wrap="square" lIns="68575" tIns="34275" rIns="68575" bIns="34275" anchor="t" anchorCtr="0">
            <a:normAutofit/>
          </a:bodyPr>
          <a:lstStyle/>
          <a:p>
            <a:pPr marL="457200" lvl="0" indent="-355600" algn="l" rtl="0">
              <a:lnSpc>
                <a:spcPct val="70000"/>
              </a:lnSpc>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Convolutional Neural Network (CNN) is used for binary classification.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70000"/>
              </a:lnSpc>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Input data consists of time-series sequences (CSV files) from two classes: "Parkinson" and "Without Parkinson.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70000"/>
              </a:lnSpc>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Data preprocessing includes data loading, normalization (MinMax scaling), and splitting into training and testing sets.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70000"/>
              </a:lnSpc>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CNN architecture with Conv1D layers and Dropout layers is used for feature extraction and classification.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800"/>
              </a:spcBef>
              <a:spcAft>
                <a:spcPts val="0"/>
              </a:spcAft>
              <a:buNone/>
            </a:pP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70000"/>
              </a:lnSpc>
              <a:spcBef>
                <a:spcPts val="80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The model is trained using binary cross-entropy loss and the Adam optimizer.</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70000"/>
              </a:lnSpc>
              <a:spcBef>
                <a:spcPts val="800"/>
              </a:spcBef>
              <a:spcAft>
                <a:spcPts val="0"/>
              </a:spcAft>
              <a:buClr>
                <a:schemeClr val="dk1"/>
              </a:buClr>
              <a:buSzPts val="1100"/>
              <a:buFont typeface="Arial" panose="020B0604020202020204"/>
              <a:buNone/>
            </a:pPr>
            <a:endParaRPr sz="2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78" name="Shape 378"/>
        <p:cNvGrpSpPr/>
        <p:nvPr/>
      </p:nvGrpSpPr>
      <p:grpSpPr>
        <a:xfrm>
          <a:off x="0" y="0"/>
          <a:ext cx="0" cy="0"/>
          <a:chOff x="0" y="0"/>
          <a:chExt cx="0" cy="0"/>
        </a:xfrm>
      </p:grpSpPr>
      <p:sp>
        <p:nvSpPr>
          <p:cNvPr id="379" name="Google Shape;379;p53"/>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Pseudocode of CNN</a:t>
            </a:r>
            <a:endParaRPr lang="en-GB" sz="3000" b="1"/>
          </a:p>
        </p:txBody>
      </p:sp>
      <p:sp>
        <p:nvSpPr>
          <p:cNvPr id="380" name="Google Shape;380;p53"/>
          <p:cNvSpPr txBox="1"/>
          <p:nvPr>
            <p:ph type="body" idx="1"/>
          </p:nvPr>
        </p:nvSpPr>
        <p:spPr>
          <a:xfrm>
            <a:off x="40200" y="628800"/>
            <a:ext cx="9063600" cy="45150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1: Initialize capsule network</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initialize capsule_network()</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2 : Primary capsule layer</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for each primary_capsule in primary_capsule_layer:</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compute_primary_capsule_activation(input_data)</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3: Capsule Layer(s)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each routing_iteration in max_routing_iterations: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for each capsule_i in capsule_layer:</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for each capsule_j in next_layer_capsules: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compute_routing_weight(capsule_i, capsule_j)</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update_coupling_coefficients()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400">
              <a:solidFill>
                <a:srgbClr val="0000FF"/>
              </a:solidFill>
            </a:endParaRPr>
          </a:p>
          <a:p>
            <a:pPr marL="0" lvl="0" indent="0" algn="l" rtl="0">
              <a:spcBef>
                <a:spcPts val="800"/>
              </a:spcBef>
              <a:spcAft>
                <a:spcPts val="0"/>
              </a:spcAft>
              <a:buNone/>
            </a:pPr>
            <a:endParaRPr>
              <a:solidFill>
                <a:srgbClr val="0000FF"/>
              </a:solidFill>
            </a:endParaRPr>
          </a:p>
          <a:p>
            <a:pPr marL="0" lvl="0" indent="0" algn="l" rtl="0">
              <a:spcBef>
                <a:spcPts val="800"/>
              </a:spcBef>
              <a:spcAft>
                <a:spcPts val="0"/>
              </a:spcAft>
              <a:buNone/>
            </a:pPr>
            <a:endParaRPr>
              <a:solidFill>
                <a:srgbClr val="0000FF"/>
              </a:solidFill>
            </a:endParaRPr>
          </a:p>
          <a:p>
            <a:pPr marL="0" lvl="0" indent="0" algn="l" rtl="0">
              <a:spcBef>
                <a:spcPts val="800"/>
              </a:spcBef>
              <a:spcAft>
                <a:spcPts val="0"/>
              </a:spcAft>
              <a:buNone/>
            </a:pPr>
            <a:endParaRPr>
              <a:solidFill>
                <a:srgbClr val="0000FF"/>
              </a:solidFill>
            </a:endParaRPr>
          </a:p>
          <a:p>
            <a:pPr marL="457200" lvl="0" indent="0" algn="l" rtl="0">
              <a:spcBef>
                <a:spcPts val="800"/>
              </a:spcBef>
              <a:spcAft>
                <a:spcPts val="0"/>
              </a:spcAft>
              <a:buNone/>
            </a:pPr>
            <a:endParaRPr>
              <a:solidFill>
                <a:srgbClr val="0000FF"/>
              </a:solidFill>
            </a:endParaRPr>
          </a:p>
          <a:p>
            <a:pPr marL="0" lvl="0" indent="0" algn="l" rtl="0">
              <a:spcBef>
                <a:spcPts val="800"/>
              </a:spcBef>
              <a:spcAft>
                <a:spcPts val="0"/>
              </a:spcAft>
              <a:buNone/>
            </a:p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85" name="Shape 385"/>
        <p:cNvGrpSpPr/>
        <p:nvPr/>
      </p:nvGrpSpPr>
      <p:grpSpPr>
        <a:xfrm>
          <a:off x="0" y="0"/>
          <a:ext cx="0" cy="0"/>
          <a:chOff x="0" y="0"/>
          <a:chExt cx="0" cy="0"/>
        </a:xfrm>
      </p:grpSpPr>
      <p:sp>
        <p:nvSpPr>
          <p:cNvPr id="386" name="Google Shape;386;p54"/>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Pseudocode of CNN</a:t>
            </a:r>
            <a:endParaRPr lang="en-GB" sz="3000" b="1"/>
          </a:p>
        </p:txBody>
      </p:sp>
      <p:sp>
        <p:nvSpPr>
          <p:cNvPr id="387" name="Google Shape;387;p54"/>
          <p:cNvSpPr txBox="1"/>
          <p:nvPr>
            <p:ph type="body" idx="1"/>
          </p:nvPr>
        </p:nvSpPr>
        <p:spPr>
          <a:xfrm>
            <a:off x="40200" y="628800"/>
            <a:ext cx="9063600" cy="4515000"/>
          </a:xfrm>
          <a:prstGeom prst="rect">
            <a:avLst/>
          </a:prstGeom>
          <a:noFill/>
          <a:ln>
            <a:noFill/>
          </a:ln>
        </p:spPr>
        <p:txBody>
          <a:bodyPr spcFirstLastPara="1" wrap="square" lIns="68575" tIns="34275" rIns="68575" bIns="34275" anchor="t" anchorCtr="0">
            <a:normAutofit fontScale="25000" lnSpcReduction="20000"/>
          </a:bodyPr>
          <a:lstStyle/>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4: 	Pose Prediction</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each capsule in output_layer:</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    				compute_final_pose(capsule)</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5: 	Loss Calculation</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compute_loss()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6:		 Backpropagation</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backpropagate_gradients()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Step 7: 	Update Weights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r>
              <a:rPr lang="en-GB" sz="8000">
                <a:solidFill>
                  <a:srgbClr val="0000FF"/>
                </a:solidFill>
                <a:latin typeface="Times New Roman" panose="02020603050405020304"/>
                <a:ea typeface="Times New Roman" panose="02020603050405020304"/>
                <a:cs typeface="Times New Roman" panose="02020603050405020304"/>
                <a:sym typeface="Times New Roman" panose="02020603050405020304"/>
              </a:rPr>
              <a:t>update_weights()</a:t>
            </a: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sz="8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800"/>
              </a:spcBef>
              <a:spcAft>
                <a:spcPts val="0"/>
              </a:spcAft>
              <a:buNone/>
            </a:pPr>
            <a:endParaRPr>
              <a:solidFill>
                <a:srgbClr val="0000FF"/>
              </a:solidFill>
            </a:endParaRPr>
          </a:p>
          <a:p>
            <a:pPr marL="0" lvl="0" indent="0" algn="l" rtl="0">
              <a:spcBef>
                <a:spcPts val="800"/>
              </a:spcBef>
              <a:spcAft>
                <a:spcPts val="0"/>
              </a:spcAft>
              <a:buNone/>
            </a:pPr>
            <a:endParaRPr>
              <a:solidFill>
                <a:srgbClr val="0000FF"/>
              </a:solidFill>
            </a:endParaRPr>
          </a:p>
          <a:p>
            <a:pPr marL="457200" lvl="0" indent="0" algn="l" rtl="0">
              <a:spcBef>
                <a:spcPts val="800"/>
              </a:spcBef>
              <a:spcAft>
                <a:spcPts val="0"/>
              </a:spcAft>
              <a:buNone/>
            </a:pPr>
            <a:endParaRPr>
              <a:solidFill>
                <a:srgbClr val="0000FF"/>
              </a:solidFill>
            </a:endParaRPr>
          </a:p>
          <a:p>
            <a:pPr marL="0" lvl="0" indent="0" algn="l" rtl="0">
              <a:spcBef>
                <a:spcPts val="800"/>
              </a:spcBef>
              <a:spcAft>
                <a:spcPts val="0"/>
              </a:spcAft>
              <a:buNone/>
            </a:p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392" name="Shape 392"/>
        <p:cNvGrpSpPr/>
        <p:nvPr/>
      </p:nvGrpSpPr>
      <p:grpSpPr>
        <a:xfrm>
          <a:off x="0" y="0"/>
          <a:ext cx="0" cy="0"/>
          <a:chOff x="0" y="0"/>
          <a:chExt cx="0" cy="0"/>
        </a:xfrm>
      </p:grpSpPr>
      <p:sp>
        <p:nvSpPr>
          <p:cNvPr id="393" name="Google Shape;393;p55"/>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Modules or Features of Application</a:t>
            </a:r>
            <a:endParaRPr lang="en-GB" sz="3000" b="1"/>
          </a:p>
        </p:txBody>
      </p:sp>
      <p:sp>
        <p:nvSpPr>
          <p:cNvPr id="394" name="Google Shape;394;p55"/>
          <p:cNvSpPr txBox="1"/>
          <p:nvPr>
            <p:ph type="body" idx="1"/>
          </p:nvPr>
        </p:nvSpPr>
        <p:spPr>
          <a:xfrm>
            <a:off x="210750" y="765775"/>
            <a:ext cx="8409000" cy="4100100"/>
          </a:xfrm>
          <a:prstGeom prst="rect">
            <a:avLst/>
          </a:prstGeom>
          <a:noFill/>
          <a:ln>
            <a:noFill/>
          </a:ln>
        </p:spPr>
        <p:txBody>
          <a:bodyPr spcFirstLastPara="1" wrap="square" lIns="68575" tIns="34275" rIns="68575" bIns="34275" anchor="t" anchorCtr="0">
            <a:normAutofit/>
          </a:bodyPr>
          <a:lstStyle/>
          <a:p>
            <a:pPr marL="508000" lvl="0" indent="-114300" algn="just" rtl="0">
              <a:lnSpc>
                <a:spcPct val="90000"/>
              </a:lnSpc>
              <a:spcBef>
                <a:spcPts val="0"/>
              </a:spcBef>
              <a:spcAft>
                <a:spcPts val="0"/>
              </a:spcAft>
              <a:buClr>
                <a:schemeClr val="dk1"/>
              </a:buClr>
              <a:buSzPts val="2100"/>
              <a:buFont typeface="Noto Sans Symbols"/>
              <a:buNone/>
            </a:p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Data Upload and Preprocessing</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Data Visualization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Spiral data training using CNN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Vocal data Training using DBN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Feature Integration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Applying ensemble model</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Evaluation and metrics module</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Results and Reports</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User Interface Design</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just" rtl="0">
              <a:lnSpc>
                <a:spcPct val="90000"/>
              </a:lnSpc>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Integrating UI and ML part</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800"/>
              </a:spcBef>
              <a:spcAft>
                <a:spcPts val="0"/>
              </a:spcAft>
              <a:buClr>
                <a:schemeClr val="dk1"/>
              </a:buClr>
              <a:buSzPts val="2100"/>
              <a:buNone/>
            </a:p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98" name="Shape 398"/>
        <p:cNvGrpSpPr/>
        <p:nvPr/>
      </p:nvGrpSpPr>
      <p:grpSpPr>
        <a:xfrm>
          <a:off x="0" y="0"/>
          <a:ext cx="0" cy="0"/>
          <a:chOff x="0" y="0"/>
          <a:chExt cx="0" cy="0"/>
        </a:xfrm>
      </p:grpSpPr>
      <p:sp>
        <p:nvSpPr>
          <p:cNvPr id="399" name="Google Shape;399;p56"/>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Walkthrough</a:t>
            </a:r>
            <a:endParaRPr lang="en-GB" sz="3000" b="1"/>
          </a:p>
        </p:txBody>
      </p:sp>
      <p:sp>
        <p:nvSpPr>
          <p:cNvPr id="400" name="Google Shape;400;p56"/>
          <p:cNvSpPr txBox="1"/>
          <p:nvPr/>
        </p:nvSpPr>
        <p:spPr>
          <a:xfrm>
            <a:off x="0" y="838825"/>
            <a:ext cx="9059700" cy="43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CNN video demo:</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01" name="Google Shape;401;p56" title="Screencast from 28-11-23 08_48_58 PM IST.webm">
            <a:hlinkClick r:id="rId1"/>
          </p:cNvPr>
          <p:cNvPicPr preferRelativeResize="0"/>
          <p:nvPr/>
        </p:nvPicPr>
        <p:blipFill>
          <a:blip r:embed="rId2"/>
          <a:stretch>
            <a:fillRect/>
          </a:stretch>
        </p:blipFill>
        <p:spPr>
          <a:xfrm>
            <a:off x="167025" y="1287850"/>
            <a:ext cx="8489000" cy="3735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1"/>
                                        </p:tgtEl>
                                        <p:attrNameLst>
                                          <p:attrName>style.visibility</p:attrName>
                                        </p:attrNameLst>
                                      </p:cBhvr>
                                      <p:to>
                                        <p:strVal val="visible"/>
                                      </p:to>
                                    </p:set>
                                    <p:animEffect transition="in" filter="fade">
                                      <p:cBhvr>
                                        <p:cTn id="7" dur="10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05" name="Shape 405"/>
        <p:cNvGrpSpPr/>
        <p:nvPr/>
      </p:nvGrpSpPr>
      <p:grpSpPr>
        <a:xfrm>
          <a:off x="0" y="0"/>
          <a:ext cx="0" cy="0"/>
          <a:chOff x="0" y="0"/>
          <a:chExt cx="0" cy="0"/>
        </a:xfrm>
      </p:grpSpPr>
      <p:sp>
        <p:nvSpPr>
          <p:cNvPr id="406" name="Google Shape;406;p57"/>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Walkthrough</a:t>
            </a:r>
            <a:endParaRPr lang="en-GB" sz="3000" b="1"/>
          </a:p>
        </p:txBody>
      </p:sp>
      <p:sp>
        <p:nvSpPr>
          <p:cNvPr id="407" name="Google Shape;407;p57"/>
          <p:cNvSpPr txBox="1"/>
          <p:nvPr/>
        </p:nvSpPr>
        <p:spPr>
          <a:xfrm>
            <a:off x="253125" y="838825"/>
            <a:ext cx="7886700" cy="373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DBN </a:t>
            </a: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video demo:</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08" name="Google Shape;408;p57"/>
          <p:cNvPicPr preferRelativeResize="0"/>
          <p:nvPr/>
        </p:nvPicPr>
        <p:blipFill>
          <a:blip r:embed="rId1"/>
          <a:stretch>
            <a:fillRect/>
          </a:stretch>
        </p:blipFill>
        <p:spPr>
          <a:xfrm>
            <a:off x="102775" y="1457975"/>
            <a:ext cx="8273223" cy="33116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412" name="Shape 412"/>
        <p:cNvGrpSpPr/>
        <p:nvPr/>
      </p:nvGrpSpPr>
      <p:grpSpPr>
        <a:xfrm>
          <a:off x="0" y="0"/>
          <a:ext cx="0" cy="0"/>
          <a:chOff x="0" y="0"/>
          <a:chExt cx="0" cy="0"/>
        </a:xfrm>
      </p:grpSpPr>
      <p:sp>
        <p:nvSpPr>
          <p:cNvPr id="413" name="Google Shape;413;p58"/>
          <p:cNvSpPr txBox="1"/>
          <p:nvPr>
            <p:ph type="title"/>
          </p:nvPr>
        </p:nvSpPr>
        <p:spPr>
          <a:xfrm>
            <a:off x="4762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Walkthrough</a:t>
            </a:r>
            <a:endParaRPr lang="en-GB" sz="3000" b="1"/>
          </a:p>
        </p:txBody>
      </p:sp>
      <p:sp>
        <p:nvSpPr>
          <p:cNvPr id="414" name="Google Shape;414;p58"/>
          <p:cNvSpPr txBox="1"/>
          <p:nvPr/>
        </p:nvSpPr>
        <p:spPr>
          <a:xfrm>
            <a:off x="253125" y="838825"/>
            <a:ext cx="7886700" cy="373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Ensemble model</a:t>
            </a: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 video demo:</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15" name="Google Shape;415;p58"/>
          <p:cNvPicPr preferRelativeResize="0"/>
          <p:nvPr/>
        </p:nvPicPr>
        <p:blipFill>
          <a:blip r:embed="rId1"/>
          <a:stretch>
            <a:fillRect/>
          </a:stretch>
        </p:blipFill>
        <p:spPr>
          <a:xfrm>
            <a:off x="102775" y="1457975"/>
            <a:ext cx="8273223" cy="33116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p59"/>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Walkthrough</a:t>
            </a:r>
            <a:endParaRPr lang="en-GB" sz="3000" b="1"/>
          </a:p>
        </p:txBody>
      </p:sp>
      <p:sp>
        <p:nvSpPr>
          <p:cNvPr id="421" name="Google Shape;421;p59"/>
          <p:cNvSpPr txBox="1"/>
          <p:nvPr/>
        </p:nvSpPr>
        <p:spPr>
          <a:xfrm>
            <a:off x="159400" y="953900"/>
            <a:ext cx="8670000" cy="367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CNN output screenshots:</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22" name="Google Shape;422;p59"/>
          <p:cNvPicPr preferRelativeResize="0"/>
          <p:nvPr/>
        </p:nvPicPr>
        <p:blipFill>
          <a:blip r:embed="rId1"/>
          <a:stretch>
            <a:fillRect/>
          </a:stretch>
        </p:blipFill>
        <p:spPr>
          <a:xfrm>
            <a:off x="1358413" y="1561974"/>
            <a:ext cx="6271974" cy="3453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426" name="Shape 426"/>
        <p:cNvGrpSpPr/>
        <p:nvPr/>
      </p:nvGrpSpPr>
      <p:grpSpPr>
        <a:xfrm>
          <a:off x="0" y="0"/>
          <a:ext cx="0" cy="0"/>
          <a:chOff x="0" y="0"/>
          <a:chExt cx="0" cy="0"/>
        </a:xfrm>
      </p:grpSpPr>
      <p:sp>
        <p:nvSpPr>
          <p:cNvPr id="427" name="Google Shape;427;p60"/>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Walkthrough</a:t>
            </a:r>
            <a:endParaRPr lang="en-GB" sz="3000" b="1"/>
          </a:p>
        </p:txBody>
      </p:sp>
      <p:sp>
        <p:nvSpPr>
          <p:cNvPr id="428" name="Google Shape;428;p60"/>
          <p:cNvSpPr txBox="1"/>
          <p:nvPr/>
        </p:nvSpPr>
        <p:spPr>
          <a:xfrm>
            <a:off x="283775" y="911850"/>
            <a:ext cx="8670000" cy="367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DBN</a:t>
            </a: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 output screenshots:</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29" name="Google Shape;429;p60"/>
          <p:cNvPicPr preferRelativeResize="0"/>
          <p:nvPr/>
        </p:nvPicPr>
        <p:blipFill>
          <a:blip r:embed="rId1"/>
          <a:stretch>
            <a:fillRect/>
          </a:stretch>
        </p:blipFill>
        <p:spPr>
          <a:xfrm>
            <a:off x="371375" y="1758025"/>
            <a:ext cx="8513677" cy="31009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433" name="Shape 433"/>
        <p:cNvGrpSpPr/>
        <p:nvPr/>
      </p:nvGrpSpPr>
      <p:grpSpPr>
        <a:xfrm>
          <a:off x="0" y="0"/>
          <a:ext cx="0" cy="0"/>
          <a:chOff x="0" y="0"/>
          <a:chExt cx="0" cy="0"/>
        </a:xfrm>
      </p:grpSpPr>
      <p:sp>
        <p:nvSpPr>
          <p:cNvPr id="434" name="Google Shape;434;p61"/>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Walkthrough</a:t>
            </a:r>
            <a:endParaRPr lang="en-GB" sz="3000" b="1"/>
          </a:p>
        </p:txBody>
      </p:sp>
      <p:sp>
        <p:nvSpPr>
          <p:cNvPr id="435" name="Google Shape;435;p61"/>
          <p:cNvSpPr txBox="1"/>
          <p:nvPr/>
        </p:nvSpPr>
        <p:spPr>
          <a:xfrm>
            <a:off x="283775" y="911850"/>
            <a:ext cx="8670000" cy="367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Ensemble Model </a:t>
            </a: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screenshots:</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36" name="Google Shape;436;p61"/>
          <p:cNvPicPr preferRelativeResize="0"/>
          <p:nvPr/>
        </p:nvPicPr>
        <p:blipFill>
          <a:blip r:embed="rId1"/>
          <a:stretch>
            <a:fillRect/>
          </a:stretch>
        </p:blipFill>
        <p:spPr>
          <a:xfrm>
            <a:off x="1146500" y="1429374"/>
            <a:ext cx="6398176" cy="35233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440" name="Shape 440"/>
        <p:cNvGrpSpPr/>
        <p:nvPr/>
      </p:nvGrpSpPr>
      <p:grpSpPr>
        <a:xfrm>
          <a:off x="0" y="0"/>
          <a:ext cx="0" cy="0"/>
          <a:chOff x="0" y="0"/>
          <a:chExt cx="0" cy="0"/>
        </a:xfrm>
      </p:grpSpPr>
      <p:sp>
        <p:nvSpPr>
          <p:cNvPr id="441" name="Google Shape;441;p62"/>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Results and Discussion</a:t>
            </a:r>
            <a:endParaRPr lang="en-GB" sz="3000" b="1"/>
          </a:p>
        </p:txBody>
      </p:sp>
      <p:sp>
        <p:nvSpPr>
          <p:cNvPr id="442" name="Google Shape;442;p62"/>
          <p:cNvSpPr txBox="1"/>
          <p:nvPr/>
        </p:nvSpPr>
        <p:spPr>
          <a:xfrm>
            <a:off x="628650" y="1015725"/>
            <a:ext cx="7498500" cy="28713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DBN we got accuracy of  97%, as per the accuracy of the model, we got testing output.</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CNN we got accuracy of 70% in training, as per the accuracy of the model, we got testing output with accuracy of 70%.</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fused model we got 70% accuracy.</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446" name="Shape 446"/>
        <p:cNvGrpSpPr/>
        <p:nvPr/>
      </p:nvGrpSpPr>
      <p:grpSpPr>
        <a:xfrm>
          <a:off x="0" y="0"/>
          <a:ext cx="0" cy="0"/>
          <a:chOff x="0" y="0"/>
          <a:chExt cx="0" cy="0"/>
        </a:xfrm>
      </p:grpSpPr>
      <p:sp>
        <p:nvSpPr>
          <p:cNvPr id="447" name="Google Shape;447;p63"/>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Results and Discussion</a:t>
            </a:r>
            <a:endParaRPr lang="en-GB" sz="3000" b="1"/>
          </a:p>
        </p:txBody>
      </p:sp>
      <p:sp>
        <p:nvSpPr>
          <p:cNvPr id="448" name="Google Shape;448;p63"/>
          <p:cNvSpPr txBox="1"/>
          <p:nvPr/>
        </p:nvSpPr>
        <p:spPr>
          <a:xfrm>
            <a:off x="139725" y="952625"/>
            <a:ext cx="8740800" cy="28188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Yes, the results are same as expected. For unimodal of CNN we got accuracy of 70%.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DBN we got 97% .</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spcBef>
                <a:spcPts val="0"/>
              </a:spcBef>
              <a:spcAft>
                <a:spcPts val="0"/>
              </a:spcAft>
              <a:buClr>
                <a:srgbClr val="0000FF"/>
              </a:buClr>
              <a:buSzPts val="2000"/>
              <a:buFont typeface="Times New Roman" panose="02020603050405020304"/>
              <a:buChar char="●"/>
            </a:pPr>
            <a:r>
              <a:rPr lang="en-GB" sz="2000">
                <a:solidFill>
                  <a:srgbClr val="0000FF"/>
                </a:solidFill>
                <a:latin typeface="Times New Roman" panose="02020603050405020304"/>
                <a:ea typeface="Times New Roman" panose="02020603050405020304"/>
                <a:cs typeface="Times New Roman" panose="02020603050405020304"/>
                <a:sym typeface="Times New Roman" panose="02020603050405020304"/>
              </a:rPr>
              <a:t>For Ensemble model we got accuracy of 70%.</a:t>
            </a:r>
            <a:endParaRPr sz="20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452" name="Shape 452"/>
        <p:cNvGrpSpPr/>
        <p:nvPr/>
      </p:nvGrpSpPr>
      <p:grpSpPr>
        <a:xfrm>
          <a:off x="0" y="0"/>
          <a:ext cx="0" cy="0"/>
          <a:chOff x="0" y="0"/>
          <a:chExt cx="0" cy="0"/>
        </a:xfrm>
      </p:grpSpPr>
      <p:sp>
        <p:nvSpPr>
          <p:cNvPr id="453" name="Google Shape;453;p64"/>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Documentation</a:t>
            </a:r>
            <a:endParaRPr lang="en-GB" sz="3000" b="1"/>
          </a:p>
        </p:txBody>
      </p:sp>
      <p:sp>
        <p:nvSpPr>
          <p:cNvPr id="454" name="Google Shape;454;p64"/>
          <p:cNvSpPr txBox="1"/>
          <p:nvPr>
            <p:ph type="body" idx="1"/>
          </p:nvPr>
        </p:nvSpPr>
        <p:spPr>
          <a:xfrm>
            <a:off x="628650" y="971550"/>
            <a:ext cx="7886700" cy="3661172"/>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100"/>
              <a:buNone/>
            </a:pPr>
          </a:p>
          <a:p>
            <a:pPr marL="177800" lvl="0" indent="-165100" algn="l" rtl="0">
              <a:lnSpc>
                <a:spcPct val="90000"/>
              </a:lnSpc>
              <a:spcBef>
                <a:spcPts val="800"/>
              </a:spcBef>
              <a:spcAft>
                <a:spcPts val="0"/>
              </a:spcAft>
              <a:buClr>
                <a:srgbClr val="0000FF"/>
              </a:buClr>
              <a:buSzPts val="2000"/>
              <a:buFont typeface="Noto Sans Symbols"/>
              <a:buChar char="▪"/>
            </a:pPr>
            <a:r>
              <a:rPr lang="en-GB" sz="2000">
                <a:solidFill>
                  <a:srgbClr val="0000FF"/>
                </a:solidFill>
              </a:rPr>
              <a:t>Project report submitted in department?</a:t>
            </a:r>
            <a:endParaRPr sz="2000">
              <a:solidFill>
                <a:srgbClr val="0000FF"/>
              </a:solidFill>
            </a:endParaRPr>
          </a:p>
          <a:p>
            <a:pPr marL="457200" lvl="0" indent="-355600" algn="l" rtl="0">
              <a:lnSpc>
                <a:spcPct val="90000"/>
              </a:lnSpc>
              <a:spcBef>
                <a:spcPts val="0"/>
              </a:spcBef>
              <a:spcAft>
                <a:spcPts val="0"/>
              </a:spcAft>
              <a:buClr>
                <a:srgbClr val="0000FF"/>
              </a:buClr>
              <a:buSzPts val="2000"/>
              <a:buChar char="➢"/>
            </a:pPr>
            <a:r>
              <a:rPr lang="en-GB" sz="2000">
                <a:solidFill>
                  <a:srgbClr val="0000FF"/>
                </a:solidFill>
              </a:rPr>
              <a:t>Yes</a:t>
            </a:r>
            <a:endParaRPr sz="2000">
              <a:solidFill>
                <a:srgbClr val="0000FF"/>
              </a:solidFill>
            </a:endParaRPr>
          </a:p>
          <a:p>
            <a:pPr marL="177800" lvl="0" indent="-165100" algn="l" rtl="0">
              <a:lnSpc>
                <a:spcPct val="90000"/>
              </a:lnSpc>
              <a:spcBef>
                <a:spcPts val="800"/>
              </a:spcBef>
              <a:spcAft>
                <a:spcPts val="0"/>
              </a:spcAft>
              <a:buClr>
                <a:srgbClr val="0000FF"/>
              </a:buClr>
              <a:buSzPts val="2000"/>
              <a:buFont typeface="Noto Sans Symbols"/>
              <a:buChar char="▪"/>
            </a:pPr>
            <a:r>
              <a:rPr lang="en-GB" sz="2000">
                <a:solidFill>
                  <a:srgbClr val="0000FF"/>
                </a:solidFill>
              </a:rPr>
              <a:t>IEEE (similar) Format of Paper current status? </a:t>
            </a:r>
            <a:endParaRPr sz="2000">
              <a:solidFill>
                <a:srgbClr val="0000FF"/>
              </a:solidFill>
            </a:endParaRPr>
          </a:p>
          <a:p>
            <a:pPr marL="457200" lvl="0" indent="-355600" algn="l" rtl="0">
              <a:lnSpc>
                <a:spcPct val="90000"/>
              </a:lnSpc>
              <a:spcBef>
                <a:spcPts val="0"/>
              </a:spcBef>
              <a:spcAft>
                <a:spcPts val="0"/>
              </a:spcAft>
              <a:buClr>
                <a:srgbClr val="0000FF"/>
              </a:buClr>
              <a:buSzPts val="2000"/>
              <a:buChar char="➢"/>
            </a:pPr>
            <a:r>
              <a:rPr lang="en-GB" sz="2000">
                <a:solidFill>
                  <a:srgbClr val="0000FF"/>
                </a:solidFill>
              </a:rPr>
              <a:t>Yes, we completed</a:t>
            </a:r>
            <a:endParaRPr sz="2000">
              <a:solidFill>
                <a:srgbClr val="0000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458" name="Shape 458"/>
        <p:cNvGrpSpPr/>
        <p:nvPr/>
      </p:nvGrpSpPr>
      <p:grpSpPr>
        <a:xfrm>
          <a:off x="0" y="0"/>
          <a:ext cx="0" cy="0"/>
          <a:chOff x="0" y="0"/>
          <a:chExt cx="0" cy="0"/>
        </a:xfrm>
      </p:grpSpPr>
      <p:sp>
        <p:nvSpPr>
          <p:cNvPr id="459" name="Google Shape;459;p65"/>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Documentation</a:t>
            </a:r>
            <a:endParaRPr lang="en-GB" sz="3000" b="1"/>
          </a:p>
        </p:txBody>
      </p:sp>
      <p:sp>
        <p:nvSpPr>
          <p:cNvPr id="460" name="Google Shape;460;p65"/>
          <p:cNvSpPr txBox="1"/>
          <p:nvPr>
            <p:ph type="body" idx="1"/>
          </p:nvPr>
        </p:nvSpPr>
        <p:spPr>
          <a:xfrm>
            <a:off x="860050" y="814775"/>
            <a:ext cx="7886700" cy="3661200"/>
          </a:xfrm>
          <a:prstGeom prst="rect">
            <a:avLst/>
          </a:prstGeom>
          <a:noFill/>
          <a:ln>
            <a:noFill/>
          </a:ln>
        </p:spPr>
        <p:txBody>
          <a:bodyPr spcFirstLastPara="1" wrap="square" lIns="68575" tIns="34275" rIns="68575" bIns="34275" anchor="t" anchorCtr="0">
            <a:normAutofit/>
          </a:bodyPr>
          <a:lstStyle/>
          <a:p>
            <a:pPr marL="457200" lvl="0" indent="0" algn="l" rtl="0">
              <a:lnSpc>
                <a:spcPct val="90000"/>
              </a:lnSpc>
              <a:spcBef>
                <a:spcPts val="800"/>
              </a:spcBef>
              <a:spcAft>
                <a:spcPts val="0"/>
              </a:spcAft>
              <a:buNone/>
            </a:pPr>
            <a:endParaRPr>
              <a:solidFill>
                <a:srgbClr val="0000FF"/>
              </a:solidFill>
            </a:endParaRPr>
          </a:p>
          <a:p>
            <a:pPr marL="177800" lvl="0" indent="-171450" algn="l" rtl="0">
              <a:lnSpc>
                <a:spcPct val="90000"/>
              </a:lnSpc>
              <a:spcBef>
                <a:spcPts val="800"/>
              </a:spcBef>
              <a:spcAft>
                <a:spcPts val="0"/>
              </a:spcAft>
              <a:buClr>
                <a:srgbClr val="0000FF"/>
              </a:buClr>
              <a:buSzPts val="2100"/>
              <a:buFont typeface="Noto Sans Symbols"/>
              <a:buChar char="▪"/>
            </a:pPr>
            <a:r>
              <a:rPr lang="en-GB">
                <a:solidFill>
                  <a:srgbClr val="0000FF"/>
                </a:solidFill>
              </a:rPr>
              <a:t>Complete Project </a:t>
            </a:r>
            <a:r>
              <a:rPr lang="en-GB">
                <a:solidFill>
                  <a:srgbClr val="0000FF"/>
                </a:solidFill>
              </a:rPr>
              <a:t>demonstration</a:t>
            </a:r>
            <a:r>
              <a:rPr lang="en-GB">
                <a:solidFill>
                  <a:srgbClr val="0000FF"/>
                </a:solidFill>
              </a:rPr>
              <a:t> video : </a:t>
            </a:r>
            <a:endParaRPr>
              <a:solidFill>
                <a:srgbClr val="0000FF"/>
              </a:solidFill>
            </a:endParaRPr>
          </a:p>
          <a:p>
            <a:pPr marL="177800" lvl="0" indent="0" algn="l" rtl="0">
              <a:lnSpc>
                <a:spcPct val="90000"/>
              </a:lnSpc>
              <a:spcBef>
                <a:spcPts val="800"/>
              </a:spcBef>
              <a:spcAft>
                <a:spcPts val="0"/>
              </a:spcAft>
              <a:buNone/>
            </a:pPr>
            <a:endParaRPr>
              <a:solidFill>
                <a:srgbClr val="0000FF"/>
              </a:solidFill>
            </a:endParaRPr>
          </a:p>
        </p:txBody>
      </p:sp>
      <p:pic>
        <p:nvPicPr>
          <p:cNvPr id="461" name="Google Shape;461;p65" title="Entire project demonstartion.mp4">
            <a:hlinkClick r:id="rId1"/>
          </p:cNvPr>
          <p:cNvPicPr preferRelativeResize="0"/>
          <p:nvPr/>
        </p:nvPicPr>
        <p:blipFill>
          <a:blip r:embed="rId2"/>
          <a:stretch>
            <a:fillRect/>
          </a:stretch>
        </p:blipFill>
        <p:spPr>
          <a:xfrm>
            <a:off x="918775" y="1557275"/>
            <a:ext cx="6598675" cy="342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465" name="Shape 465"/>
        <p:cNvGrpSpPr/>
        <p:nvPr/>
      </p:nvGrpSpPr>
      <p:grpSpPr>
        <a:xfrm>
          <a:off x="0" y="0"/>
          <a:ext cx="0" cy="0"/>
          <a:chOff x="0" y="0"/>
          <a:chExt cx="0" cy="0"/>
        </a:xfrm>
      </p:grpSpPr>
      <p:sp>
        <p:nvSpPr>
          <p:cNvPr id="466" name="Google Shape;466;p66"/>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Conclusion and Future work</a:t>
            </a:r>
            <a:endParaRPr lang="en-GB" sz="3000" b="1"/>
          </a:p>
        </p:txBody>
      </p:sp>
      <p:sp>
        <p:nvSpPr>
          <p:cNvPr id="467" name="Google Shape;467;p66"/>
          <p:cNvSpPr txBox="1"/>
          <p:nvPr/>
        </p:nvSpPr>
        <p:spPr>
          <a:xfrm>
            <a:off x="149625" y="749975"/>
            <a:ext cx="9048600" cy="43377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rgbClr val="0000FF"/>
              </a:buClr>
              <a:buSzPts val="2400"/>
              <a:buFont typeface="Times New Roman" panose="02020603050405020304"/>
              <a:buChar char="●"/>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Parkinson’s Disease is a neurological disorder that affects many people and it leads to death . So the main objective is to build a model so that it can detect the disease in the early stage and to help the patients to cure it.</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rgbClr val="0000FF"/>
              </a:buClr>
              <a:buSzPts val="2400"/>
              <a:buFont typeface="Times New Roman" panose="02020603050405020304"/>
              <a:buChar char="●"/>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For this we used two models and we got 97% accuracy in DBN model and 81.55% accuracy in CNN model.</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rgbClr val="0000FF"/>
              </a:buClr>
              <a:buSzPts val="2400"/>
              <a:buFont typeface="Times New Roman" panose="02020603050405020304"/>
              <a:buChar char="●"/>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The main challenge we faced here was to extract the features from the raw dataset. For that we used wrapper method as the solution.</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471" name="Shape 471"/>
        <p:cNvGrpSpPr/>
        <p:nvPr/>
      </p:nvGrpSpPr>
      <p:grpSpPr>
        <a:xfrm>
          <a:off x="0" y="0"/>
          <a:ext cx="0" cy="0"/>
          <a:chOff x="0" y="0"/>
          <a:chExt cx="0" cy="0"/>
        </a:xfrm>
      </p:grpSpPr>
      <p:sp>
        <p:nvSpPr>
          <p:cNvPr id="472" name="Google Shape;472;p67"/>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Conclusion and Future work</a:t>
            </a:r>
            <a:endParaRPr lang="en-GB" sz="3000" b="1"/>
          </a:p>
        </p:txBody>
      </p:sp>
      <p:sp>
        <p:nvSpPr>
          <p:cNvPr id="473" name="Google Shape;473;p67"/>
          <p:cNvSpPr txBox="1"/>
          <p:nvPr/>
        </p:nvSpPr>
        <p:spPr>
          <a:xfrm>
            <a:off x="149625" y="749975"/>
            <a:ext cx="9048600" cy="43377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rgbClr val="0000FF"/>
              </a:buClr>
              <a:buSzPts val="2400"/>
              <a:buFont typeface="Times New Roman" panose="02020603050405020304"/>
              <a:buChar char="●"/>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From this, we learnt how the model works and how it trains and tests the data with the good result.</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rgbClr val="0000FF"/>
              </a:buClr>
              <a:buSzPts val="2400"/>
              <a:buFont typeface="Times New Roman" panose="02020603050405020304"/>
              <a:buChar char="●"/>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Patients can easily use this website for detection of the disease with ease.They just have to upload the voice recording and spiral drawing.</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rgbClr val="0000FF"/>
              </a:buClr>
              <a:buSzPts val="2400"/>
              <a:buFont typeface="Times New Roman" panose="02020603050405020304"/>
              <a:buChar char="●"/>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This project can be further improved by using the advanced AI tools for the prediction of the disease.</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GB" sz="2400">
                <a:solidFill>
                  <a:srgbClr val="0000FF"/>
                </a:solidFill>
                <a:latin typeface="Times New Roman" panose="02020603050405020304"/>
                <a:ea typeface="Times New Roman" panose="02020603050405020304"/>
                <a:cs typeface="Times New Roman" panose="02020603050405020304"/>
                <a:sym typeface="Times New Roman" panose="02020603050405020304"/>
              </a:rPr>
              <a:t> </a:t>
            </a: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477" name="Shape 477"/>
        <p:cNvGrpSpPr/>
        <p:nvPr/>
      </p:nvGrpSpPr>
      <p:grpSpPr>
        <a:xfrm>
          <a:off x="0" y="0"/>
          <a:ext cx="0" cy="0"/>
          <a:chOff x="0" y="0"/>
          <a:chExt cx="0" cy="0"/>
        </a:xfrm>
      </p:grpSpPr>
      <p:sp>
        <p:nvSpPr>
          <p:cNvPr id="478" name="Google Shape;478;p68"/>
          <p:cNvSpPr txBox="1"/>
          <p:nvPr>
            <p:ph type="title"/>
          </p:nvPr>
        </p:nvSpPr>
        <p:spPr>
          <a:xfrm>
            <a:off x="628650" y="1"/>
            <a:ext cx="7886700" cy="62865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References</a:t>
            </a:r>
            <a:endParaRPr b="1"/>
          </a:p>
        </p:txBody>
      </p:sp>
      <p:sp>
        <p:nvSpPr>
          <p:cNvPr id="479" name="Google Shape;479;p68"/>
          <p:cNvSpPr txBox="1"/>
          <p:nvPr/>
        </p:nvSpPr>
        <p:spPr>
          <a:xfrm>
            <a:off x="0" y="628650"/>
            <a:ext cx="9144000" cy="44895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rgbClr val="0000FF"/>
              </a:buClr>
              <a:buSzPts val="1500"/>
              <a:buFont typeface="Times New Roman" panose="02020603050405020304"/>
              <a:buChar char="●"/>
            </a:pPr>
            <a:r>
              <a:rPr lang="en-GB" sz="1500" u="sng">
                <a:solidFill>
                  <a:srgbClr val="0000FF"/>
                </a:solidFill>
                <a:latin typeface="Times New Roman" panose="02020603050405020304"/>
                <a:ea typeface="Times New Roman" panose="02020603050405020304"/>
                <a:cs typeface="Times New Roman" panose="02020603050405020304"/>
                <a:sym typeface="Times New Roman" panose="02020603050405020304"/>
                <a:hlinkClick r:id="rId1"/>
              </a:rPr>
              <a:t>S. Aich, H. -C. Kim, K. younga, K. L. Hui, A. A. Al-Absi and M. Sain, "A Supervised Machine Learning Approach using Different Feature Selection Techniques on Voice Datasets for Prediction of Parkinson’s Disease," 2019 21st International Conference on Advanced Communication Technology (ICACT), PyeongChang, Korea (South), 2019, pp. 1116-1121, doi:</a:t>
            </a:r>
            <a:r>
              <a:rPr lang="en-GB" sz="1500" u="sng">
                <a:solidFill>
                  <a:srgbClr val="0000FF"/>
                </a:solidFill>
                <a:latin typeface="Times New Roman" panose="02020603050405020304"/>
                <a:ea typeface="Times New Roman" panose="02020603050405020304"/>
                <a:cs typeface="Times New Roman" panose="02020603050405020304"/>
                <a:sym typeface="Times New Roman" panose="02020603050405020304"/>
                <a:hlinkClick r:id="rId1"/>
              </a:rPr>
              <a:t> </a:t>
            </a:r>
            <a:r>
              <a:rPr lang="en-GB" sz="1500" u="sng">
                <a:solidFill>
                  <a:srgbClr val="0000FF"/>
                </a:solidFill>
                <a:latin typeface="Times New Roman" panose="02020603050405020304"/>
                <a:ea typeface="Times New Roman" panose="02020603050405020304"/>
                <a:cs typeface="Times New Roman" panose="02020603050405020304"/>
                <a:sym typeface="Times New Roman" panose="02020603050405020304"/>
                <a:hlinkClick r:id="rId1"/>
              </a:rPr>
              <a:t>10.23919/ICACT.2019.8701961.</a:t>
            </a: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rgbClr val="0000FF"/>
              </a:buClr>
              <a:buSzPts val="1500"/>
              <a:buFont typeface="Times New Roman" panose="02020603050405020304"/>
              <a:buChar char="●"/>
            </a:pPr>
            <a:r>
              <a:rPr lang="en-GB" sz="1500" u="sng">
                <a:solidFill>
                  <a:srgbClr val="0000FF"/>
                </a:solidFill>
                <a:latin typeface="Times New Roman" panose="02020603050405020304"/>
                <a:ea typeface="Times New Roman" panose="02020603050405020304"/>
                <a:cs typeface="Times New Roman" panose="02020603050405020304"/>
                <a:sym typeface="Times New Roman" panose="02020603050405020304"/>
                <a:hlinkClick r:id="rId2"/>
              </a:rPr>
              <a:t>A. Ouhmida, O. Terrada, A. Raihani, B. Cherradi and S. Hamida, "Voice-Based Deep Learning Medical Diagnosis System for Parkinson's Disease Prediction," 2021 International Congress of Advanced Technology and Engineering (ICOTEN), Taiz, Yemen, 2021, pp. 1-5, doi: 10.1109/ICOTEN52080.2021.9493456.</a:t>
            </a: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rgbClr val="0000FF"/>
              </a:buClr>
              <a:buSzPts val="1500"/>
              <a:buFont typeface="Times New Roman" panose="02020603050405020304"/>
              <a:buChar char="●"/>
            </a:pPr>
            <a:r>
              <a:rPr lang="en-GB" sz="1500">
                <a:solidFill>
                  <a:srgbClr val="0000FF"/>
                </a:solidFill>
                <a:latin typeface="Times New Roman" panose="02020603050405020304"/>
                <a:ea typeface="Times New Roman" panose="02020603050405020304"/>
                <a:cs typeface="Times New Roman" panose="02020603050405020304"/>
                <a:sym typeface="Times New Roman" panose="02020603050405020304"/>
              </a:rPr>
              <a:t>K. M. M. Rao, M. S. N. Reddy, V. R. Teja, P. Krishnan, D. J. Aravindhar and M. Sambath, "Parkinson's Disease Detection Using Voice and Spiral Drawing Dataset," 2020 Third International Conference on Smart Systems and Inventive Technology (ICSSIT), Tirunelveli, India, 2020, pp. 787-791, doi: 10.1109/ICSSIT48917.2020.9214276.</a:t>
            </a: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rgbClr val="0000FF"/>
              </a:buClr>
              <a:buSzPts val="1500"/>
              <a:buFont typeface="Times New Roman" panose="02020603050405020304"/>
              <a:buChar char="●"/>
            </a:pPr>
            <a:r>
              <a:rPr lang="en-GB" sz="1500" u="sng">
                <a:solidFill>
                  <a:srgbClr val="0000FF"/>
                </a:solidFill>
                <a:latin typeface="Times New Roman" panose="02020603050405020304"/>
                <a:ea typeface="Times New Roman" panose="02020603050405020304"/>
                <a:cs typeface="Times New Roman" panose="02020603050405020304"/>
                <a:sym typeface="Times New Roman" panose="02020603050405020304"/>
                <a:hlinkClick r:id="rId3"/>
              </a:rPr>
              <a:t>H. N. Pham et al., "Multimodal Detection of Parkinson Disease based on Vocal and Improved Spiral Test," 2019 International Conference on System Science and Engineering (ICSSE), Dong Hoi, Vietnam, 2019, pp. 279-284, doi: 10.1109/ICSSE.2019.8823309.</a:t>
            </a: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15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400">
              <a:solidFill>
                <a:srgbClr val="0000F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483" name="Shape 483"/>
        <p:cNvGrpSpPr/>
        <p:nvPr/>
      </p:nvGrpSpPr>
      <p:grpSpPr>
        <a:xfrm>
          <a:off x="0" y="0"/>
          <a:ext cx="0" cy="0"/>
          <a:chOff x="0" y="0"/>
          <a:chExt cx="0" cy="0"/>
        </a:xfrm>
      </p:grpSpPr>
      <p:sp>
        <p:nvSpPr>
          <p:cNvPr id="484" name="Google Shape;484;p69"/>
          <p:cNvSpPr txBox="1"/>
          <p:nvPr>
            <p:ph type="title"/>
          </p:nvPr>
        </p:nvSpPr>
        <p:spPr>
          <a:xfrm>
            <a:off x="628650" y="1"/>
            <a:ext cx="7886700" cy="628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66FF"/>
              </a:buClr>
              <a:buSzPts val="3000"/>
              <a:buFont typeface="Calibri" panose="020F0502020204030204"/>
              <a:buNone/>
            </a:pPr>
            <a:r>
              <a:rPr lang="en-GB" sz="3000" b="1"/>
              <a:t>References</a:t>
            </a:r>
            <a:endParaRPr b="1"/>
          </a:p>
        </p:txBody>
      </p:sp>
      <p:sp>
        <p:nvSpPr>
          <p:cNvPr id="485" name="Google Shape;485;p69"/>
          <p:cNvSpPr txBox="1"/>
          <p:nvPr/>
        </p:nvSpPr>
        <p:spPr>
          <a:xfrm>
            <a:off x="84725" y="695900"/>
            <a:ext cx="9021300" cy="44223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rgbClr val="0000FF"/>
              </a:buClr>
              <a:buSzPts val="1500"/>
              <a:buFont typeface="Times New Roman" panose="02020603050405020304"/>
              <a:buChar char="●"/>
            </a:pPr>
            <a:r>
              <a:rPr lang="en-GB" sz="1500" u="sng">
                <a:solidFill>
                  <a:srgbClr val="0000FF"/>
                </a:solidFill>
                <a:latin typeface="Times New Roman" panose="02020603050405020304"/>
                <a:ea typeface="Times New Roman" panose="02020603050405020304"/>
                <a:cs typeface="Times New Roman" panose="02020603050405020304"/>
                <a:sym typeface="Times New Roman" panose="02020603050405020304"/>
                <a:hlinkClick r:id="rId1"/>
              </a:rPr>
              <a:t>J. Gandhi, A. Gadekar, T. Rajabally, P. Vinayakray-Jani and D. Ambawade, "Detection of Parkinsons Disease Via a Multi-Modal Approach," 2021 12th International Conference on Computing Communication and Networking Technologies (ICCCNT), Kharagpur, India, 2021, pp. 1-7, doi: 10.1109/ICCCNT51525.2021.9580135.</a:t>
            </a:r>
            <a:endParaRPr sz="2400">
              <a:solidFill>
                <a:srgbClr val="0000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489" name="Shape 489"/>
        <p:cNvGrpSpPr/>
        <p:nvPr/>
      </p:nvGrpSpPr>
      <p:grpSpPr>
        <a:xfrm>
          <a:off x="0" y="0"/>
          <a:ext cx="0" cy="0"/>
          <a:chOff x="0" y="0"/>
          <a:chExt cx="0" cy="0"/>
        </a:xfrm>
      </p:grpSpPr>
      <p:sp>
        <p:nvSpPr>
          <p:cNvPr id="490" name="Google Shape;490;p70"/>
          <p:cNvSpPr/>
          <p:nvPr/>
        </p:nvSpPr>
        <p:spPr>
          <a:xfrm>
            <a:off x="2899126" y="2228850"/>
            <a:ext cx="2373294" cy="623248"/>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GB" sz="3600" b="1">
                <a:solidFill>
                  <a:srgbClr val="FF0000"/>
                </a:solidFill>
                <a:latin typeface="Trebuchet MS" panose="020B0603020202020204"/>
                <a:ea typeface="Trebuchet MS" panose="020B0603020202020204"/>
                <a:cs typeface="Trebuchet MS" panose="020B0603020202020204"/>
                <a:sym typeface="Trebuchet MS" panose="020B0603020202020204"/>
              </a:rPr>
              <a:t>Thank You</a:t>
            </a:r>
            <a:endParaRPr sz="11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13423</Words>
  <Application>WPS Presentation</Application>
  <PresentationFormat/>
  <Paragraphs>531</Paragraphs>
  <Slides>48</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48</vt:i4>
      </vt:variant>
    </vt:vector>
  </HeadingPairs>
  <TitlesOfParts>
    <vt:vector size="61" baseType="lpstr">
      <vt:lpstr>Arial</vt:lpstr>
      <vt:lpstr>SimSun</vt:lpstr>
      <vt:lpstr>Wingdings</vt:lpstr>
      <vt:lpstr>Arial</vt:lpstr>
      <vt:lpstr>Calibri</vt:lpstr>
      <vt:lpstr>Trebuchet MS</vt:lpstr>
      <vt:lpstr>Noto Sans Symbols</vt:lpstr>
      <vt:lpstr>Segoe Print</vt:lpstr>
      <vt:lpstr>Times New Roman</vt:lpstr>
      <vt:lpstr>Microsoft YaHei</vt:lpstr>
      <vt:lpstr>Arial Unicode MS</vt:lpstr>
      <vt:lpstr>Simple Light</vt:lpstr>
      <vt:lpstr>Custom Design</vt:lpstr>
      <vt:lpstr>PowerPoint 演示文稿</vt:lpstr>
      <vt:lpstr>Outline</vt:lpstr>
      <vt:lpstr>Abstract</vt:lpstr>
      <vt:lpstr>Summary of Requirements </vt:lpstr>
      <vt:lpstr>Summary of Requirements </vt:lpstr>
      <vt:lpstr>Background Review </vt:lpstr>
      <vt:lpstr>Background Review </vt:lpstr>
      <vt:lpstr>Dataset </vt:lpstr>
      <vt:lpstr>Dataset </vt:lpstr>
      <vt:lpstr>Dataset </vt:lpstr>
      <vt:lpstr>Dataset </vt:lpstr>
      <vt:lpstr>Dataset </vt:lpstr>
      <vt:lpstr>Dataset </vt:lpstr>
      <vt:lpstr>Dataset </vt:lpstr>
      <vt:lpstr>DBN &amp; CNN </vt:lpstr>
      <vt:lpstr>Ensemble</vt:lpstr>
      <vt:lpstr>Explored Models</vt:lpstr>
      <vt:lpstr>Design Details </vt:lpstr>
      <vt:lpstr>Design Details </vt:lpstr>
      <vt:lpstr>Design Description</vt:lpstr>
      <vt:lpstr>Design Description</vt:lpstr>
      <vt:lpstr>Design Description</vt:lpstr>
      <vt:lpstr>Design Description</vt:lpstr>
      <vt:lpstr>Benefits of Proposed Methodology</vt:lpstr>
      <vt:lpstr>Drawbacks of Proposed Methodology</vt:lpstr>
      <vt:lpstr>Algorithm of DBN</vt:lpstr>
      <vt:lpstr>Algorithm of DBN</vt:lpstr>
      <vt:lpstr>Pseudocode of DBN</vt:lpstr>
      <vt:lpstr>Pseudocode of DBN</vt:lpstr>
      <vt:lpstr>Algorithm of CNN</vt:lpstr>
      <vt:lpstr>Pseudocode of CNN</vt:lpstr>
      <vt:lpstr>Pseudocode of CNN</vt:lpstr>
      <vt:lpstr>Modules or Features of Application</vt:lpstr>
      <vt:lpstr>Walkthrough</vt:lpstr>
      <vt:lpstr>Walkthrough</vt:lpstr>
      <vt:lpstr>Walkthrough</vt:lpstr>
      <vt:lpstr>Walkthrough</vt:lpstr>
      <vt:lpstr>Walkthrough</vt:lpstr>
      <vt:lpstr>Walkthrough</vt:lpstr>
      <vt:lpstr>Results and Discussion</vt:lpstr>
      <vt:lpstr>Results and Discussion</vt:lpstr>
      <vt:lpstr>Documentation</vt:lpstr>
      <vt:lpstr>Documentation</vt:lpstr>
      <vt:lpstr>Conclusion and Future work</vt:lpstr>
      <vt:lpstr>Conclusion and Future work</vt:lpstr>
      <vt:lpstr>References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Shrutesh Reddy</cp:lastModifiedBy>
  <cp:revision>1</cp:revision>
  <dcterms:created xsi:type="dcterms:W3CDTF">2023-11-29T07:28:41Z</dcterms:created>
  <dcterms:modified xsi:type="dcterms:W3CDTF">2023-11-29T07:28:41Z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FCEEE9BBF0D7414DB8F316FF77167B02</vt:lpwstr>
  </property>
  <property fmtid="{D5CDD505-2E9C-101B-9397-08002B2CF9AE}" pid="3" name="KSOProductBuildVer">
    <vt:lpwstr>1033-11.2.0.11225</vt:lpwstr>
  </property>
</Properties>
</file>